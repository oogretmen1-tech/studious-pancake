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3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83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3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3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-731520" y="-731520"/>
            <a:ext cx="2743200" cy="2743200"/>
          </a:xfrm>
          <a:prstGeom prst="ellipse"/>
          <a:solidFill>
            <a:srgbClr val="2196F3">
              <a:alpha val="30000"/>
            </a:srgbClr>
          </a:solidFill>
          <a:ln w="1270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7498080" y="3200400"/>
            <a:ext cx="2286000" cy="2286000"/>
          </a:xfrm>
          <a:prstGeom prst="ellipse"/>
          <a:solidFill>
            <a:srgbClr val="FFB703">
              <a:alpha val="25000"/>
            </a:srgbClr>
          </a:solidFill>
          <a:ln w="12700">
            <a:solidFill>
              <a:srgbClr val="FFB703">
                <a:alpha val="25000"/>
              </a:srgbClr>
            </a:solidFill>
            <a:prstDash val="solid"/>
          </a:ln>
        </p:spPr>
      </p:sp>
      <p:sp>
        <p:nvSpPr>
          <p:cNvPr id="1048578" name="Shape 2"/>
          <p:cNvSpPr/>
          <p:nvPr/>
        </p:nvSpPr>
        <p:spPr>
          <a:xfrm>
            <a:off x="6858000" y="-457200"/>
            <a:ext cx="1828800" cy="1828800"/>
          </a:xfrm>
          <a:prstGeom prst="ellipse"/>
          <a:solidFill>
            <a:srgbClr val="4FC3F7">
              <a:alpha val="30000"/>
            </a:srgbClr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1048579" name="Shape 3"/>
          <p:cNvSpPr/>
          <p:nvPr/>
        </p:nvSpPr>
        <p:spPr>
          <a:xfrm>
            <a:off x="457200" y="365760"/>
            <a:ext cx="2560320" cy="2560320"/>
          </a:xfrm>
          <a:prstGeom prst="ellipse"/>
          <a:solidFill>
            <a:srgbClr val="FFFFFF">
              <a:alpha val="90000"/>
            </a:srgbClr>
          </a:solidFill>
          <a:ln w="50800">
            <a:solidFill>
              <a:srgbClr val="FFB70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580" name="Text 4"/>
          <p:cNvSpPr/>
          <p:nvPr/>
        </p:nvSpPr>
        <p:spPr>
          <a:xfrm>
            <a:off x="457200" y="457200"/>
            <a:ext cx="2560320" cy="23774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7200" lang="en-US">
                <a:solidFill>
                  <a:srgbClr val="000000"/>
                </a:solidFill>
              </a:rPr>
              <a:t>🧭</a:t>
            </a:r>
            <a:endParaRPr dirty="0" sz="7200" lang="en-US"/>
          </a:p>
        </p:txBody>
      </p:sp>
      <p:sp>
        <p:nvSpPr>
          <p:cNvPr id="1048581" name="Text 5"/>
          <p:cNvSpPr/>
          <p:nvPr/>
        </p:nvSpPr>
        <p:spPr>
          <a:xfrm>
            <a:off x="3291840" y="640080"/>
            <a:ext cx="5486400" cy="12801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52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YÖNLERİMİZ</a:t>
            </a:r>
            <a:endParaRPr dirty="0" sz="5200" lang="en-US"/>
          </a:p>
        </p:txBody>
      </p:sp>
      <p:sp>
        <p:nvSpPr>
          <p:cNvPr id="1048582" name="Text 6"/>
          <p:cNvSpPr/>
          <p:nvPr/>
        </p:nvSpPr>
        <p:spPr>
          <a:xfrm>
            <a:off x="3291840" y="1920240"/>
            <a:ext cx="5486400" cy="54864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200" lang="en-US">
                <a:solidFill>
                  <a:srgbClr val="FFB703"/>
                </a:solidFill>
              </a:rPr>
              <a:t>2. Sınıf Hayat Bilgisi</a:t>
            </a:r>
            <a:endParaRPr dirty="0" sz="2200" lang="en-US"/>
          </a:p>
        </p:txBody>
      </p:sp>
      <p:sp>
        <p:nvSpPr>
          <p:cNvPr id="1048583" name="Shape 7"/>
          <p:cNvSpPr/>
          <p:nvPr/>
        </p:nvSpPr>
        <p:spPr>
          <a:xfrm>
            <a:off x="457200" y="402336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48584" name="Text 8"/>
          <p:cNvSpPr/>
          <p:nvPr/>
        </p:nvSpPr>
        <p:spPr>
          <a:xfrm>
            <a:off x="457200" y="4023360"/>
            <a:ext cx="18288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A3A6B"/>
                </a:solidFill>
              </a:rPr>
              <a:t>KUZEY</a:t>
            </a:r>
            <a:endParaRPr dirty="0" sz="1600" lang="en-US"/>
          </a:p>
        </p:txBody>
      </p:sp>
      <p:sp>
        <p:nvSpPr>
          <p:cNvPr id="1048585" name="Shape 9"/>
          <p:cNvSpPr/>
          <p:nvPr/>
        </p:nvSpPr>
        <p:spPr>
          <a:xfrm>
            <a:off x="2560320" y="402336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48586" name="Text 10"/>
          <p:cNvSpPr/>
          <p:nvPr/>
        </p:nvSpPr>
        <p:spPr>
          <a:xfrm>
            <a:off x="2560320" y="4023360"/>
            <a:ext cx="18288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A3A6B"/>
                </a:solidFill>
              </a:rPr>
              <a:t>GÜNEY</a:t>
            </a:r>
            <a:endParaRPr dirty="0" sz="1600" lang="en-US"/>
          </a:p>
        </p:txBody>
      </p:sp>
      <p:sp>
        <p:nvSpPr>
          <p:cNvPr id="1048587" name="Shape 11"/>
          <p:cNvSpPr/>
          <p:nvPr/>
        </p:nvSpPr>
        <p:spPr>
          <a:xfrm>
            <a:off x="4663440" y="402336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048588" name="Text 12"/>
          <p:cNvSpPr/>
          <p:nvPr/>
        </p:nvSpPr>
        <p:spPr>
          <a:xfrm>
            <a:off x="4663440" y="4023360"/>
            <a:ext cx="18288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A3A6B"/>
                </a:solidFill>
              </a:rPr>
              <a:t>DOĞU</a:t>
            </a:r>
            <a:endParaRPr dirty="0" sz="1600" lang="en-US"/>
          </a:p>
        </p:txBody>
      </p:sp>
      <p:sp>
        <p:nvSpPr>
          <p:cNvPr id="1048589" name="Shape 13"/>
          <p:cNvSpPr/>
          <p:nvPr/>
        </p:nvSpPr>
        <p:spPr>
          <a:xfrm>
            <a:off x="6766560" y="402336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48590" name="Text 14"/>
          <p:cNvSpPr/>
          <p:nvPr/>
        </p:nvSpPr>
        <p:spPr>
          <a:xfrm>
            <a:off x="6766560" y="4023360"/>
            <a:ext cx="18288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A3A6B"/>
                </a:solidFill>
              </a:rPr>
              <a:t>BATI</a:t>
            </a:r>
            <a:endParaRPr dirty="0" sz="1600" lang="en-US"/>
          </a:p>
        </p:txBody>
      </p:sp>
      <p:sp>
        <p:nvSpPr>
          <p:cNvPr id="1048591" name="Text 15"/>
          <p:cNvSpPr/>
          <p:nvPr/>
        </p:nvSpPr>
        <p:spPr>
          <a:xfrm>
            <a:off x="457200" y="4663440"/>
            <a:ext cx="82296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300" i="1" lang="en-US">
                <a:solidFill>
                  <a:srgbClr val="BBDEFB"/>
                </a:solidFill>
              </a:rPr>
              <a:t>Kuzey · Güney · Doğu · Batı · Yön Bulma Araçları</a:t>
            </a:r>
            <a:endParaRPr dirty="0" sz="13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F2FD"/>
        </a:solidFill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hape 0"/>
          <p:cNvSpPr/>
          <p:nvPr/>
        </p:nvSpPr>
        <p:spPr>
          <a:xfrm>
            <a:off x="0" y="0"/>
            <a:ext cx="9144000" cy="731520"/>
          </a:xfrm>
          <a:prstGeom prst="rect"/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48596" name="Text 1"/>
          <p:cNvSpPr/>
          <p:nvPr/>
        </p:nvSpPr>
        <p:spPr>
          <a:xfrm>
            <a:off x="274320" y="0"/>
            <a:ext cx="859536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YÖN NEDİR?</a:t>
            </a:r>
            <a:endParaRPr dirty="0" sz="2800" lang="en-US"/>
          </a:p>
        </p:txBody>
      </p:sp>
      <p:sp>
        <p:nvSpPr>
          <p:cNvPr id="1048597" name="Shape 2"/>
          <p:cNvSpPr/>
          <p:nvPr/>
        </p:nvSpPr>
        <p:spPr>
          <a:xfrm>
            <a:off x="365760" y="1005840"/>
            <a:ext cx="4754880" cy="3474720"/>
          </a:xfrm>
          <a:prstGeom prst="rect"/>
          <a:solidFill>
            <a:srgbClr val="FFFFFF"/>
          </a:solidFill>
          <a:ln w="25400">
            <a:solidFill>
              <a:srgbClr val="BBDEFB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598" name="Text 3"/>
          <p:cNvSpPr/>
          <p:nvPr/>
        </p:nvSpPr>
        <p:spPr>
          <a:xfrm>
            <a:off x="548640" y="1188720"/>
            <a:ext cx="4389120" cy="1097280"/>
          </a:xfrm>
          <a:prstGeom prst="rect"/>
          <a:noFill/>
        </p:spPr>
        <p:txBody>
          <a:bodyPr anchor="t" rtlCol="0" wrap="square"/>
          <a:p>
            <a:pPr algn="l" indent="0" marL="0">
              <a:buNone/>
            </a:pPr>
            <a:r>
              <a:rPr dirty="0" sz="1500" lang="en-US">
                <a:solidFill>
                  <a:srgbClr val="1A2A3A"/>
                </a:solidFill>
              </a:rPr>
              <a:t>Yön, bir yerden başka bir yere giderken hangi tarafa gideceğimizi gösteren kavramdır.</a:t>
            </a:r>
            <a:endParaRPr dirty="0" sz="1500" lang="en-US"/>
          </a:p>
        </p:txBody>
      </p:sp>
      <p:sp>
        <p:nvSpPr>
          <p:cNvPr id="1048599" name="Shape 4"/>
          <p:cNvSpPr/>
          <p:nvPr/>
        </p:nvSpPr>
        <p:spPr>
          <a:xfrm>
            <a:off x="548640" y="2377440"/>
            <a:ext cx="4389120" cy="548640"/>
          </a:xfrm>
          <a:prstGeom prst="rect"/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48600" name="Text 5"/>
          <p:cNvSpPr/>
          <p:nvPr/>
        </p:nvSpPr>
        <p:spPr>
          <a:xfrm>
            <a:off x="640080" y="2377440"/>
            <a:ext cx="429768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A3A6B"/>
                </a:solidFill>
              </a:rPr>
              <a:t>🏫  Okula hangi yönden gidiyoruz?</a:t>
            </a:r>
            <a:endParaRPr dirty="0" sz="1400" lang="en-US"/>
          </a:p>
        </p:txBody>
      </p:sp>
      <p:sp>
        <p:nvSpPr>
          <p:cNvPr id="1048601" name="Shape 6"/>
          <p:cNvSpPr/>
          <p:nvPr/>
        </p:nvSpPr>
        <p:spPr>
          <a:xfrm>
            <a:off x="548640" y="3035808"/>
            <a:ext cx="4389120" cy="548640"/>
          </a:xfrm>
          <a:prstGeom prst="rect"/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48602" name="Text 7"/>
          <p:cNvSpPr/>
          <p:nvPr/>
        </p:nvSpPr>
        <p:spPr>
          <a:xfrm>
            <a:off x="640080" y="3035808"/>
            <a:ext cx="429768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A3A6B"/>
                </a:solidFill>
              </a:rPr>
              <a:t>🌅  Güneş hangi yönde doğar?</a:t>
            </a:r>
            <a:endParaRPr dirty="0" sz="1400" lang="en-US"/>
          </a:p>
        </p:txBody>
      </p:sp>
      <p:sp>
        <p:nvSpPr>
          <p:cNvPr id="1048603" name="Shape 8"/>
          <p:cNvSpPr/>
          <p:nvPr/>
        </p:nvSpPr>
        <p:spPr>
          <a:xfrm>
            <a:off x="548640" y="3694176"/>
            <a:ext cx="4389120" cy="548640"/>
          </a:xfrm>
          <a:prstGeom prst="rect"/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48604" name="Text 9"/>
          <p:cNvSpPr/>
          <p:nvPr/>
        </p:nvSpPr>
        <p:spPr>
          <a:xfrm>
            <a:off x="640080" y="3694176"/>
            <a:ext cx="429768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A3A6B"/>
                </a:solidFill>
              </a:rPr>
              <a:t>🏠  Evimiz hangi yöndedir?</a:t>
            </a:r>
            <a:endParaRPr dirty="0" sz="1400" lang="en-US"/>
          </a:p>
        </p:txBody>
      </p:sp>
      <p:sp>
        <p:nvSpPr>
          <p:cNvPr id="1048605" name="Shape 10"/>
          <p:cNvSpPr/>
          <p:nvPr/>
        </p:nvSpPr>
        <p:spPr>
          <a:xfrm>
            <a:off x="5577840" y="914400"/>
            <a:ext cx="3200400" cy="3200400"/>
          </a:xfrm>
          <a:prstGeom prst="ellipse"/>
          <a:solidFill>
            <a:srgbClr val="E3F2FD"/>
          </a:solidFill>
          <a:ln w="38100">
            <a:solidFill>
              <a:srgbClr val="2196F3"/>
            </a:solidFill>
            <a:prstDash val="solid"/>
          </a:ln>
        </p:spPr>
      </p:sp>
      <p:sp>
        <p:nvSpPr>
          <p:cNvPr id="1048606" name="Text 11"/>
          <p:cNvSpPr/>
          <p:nvPr/>
        </p:nvSpPr>
        <p:spPr>
          <a:xfrm>
            <a:off x="5577840" y="914400"/>
            <a:ext cx="3200400" cy="3200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600" lang="en-US">
                <a:solidFill>
                  <a:srgbClr val="000000"/>
                </a:solidFill>
              </a:rPr>
              <a:t>🗺️</a:t>
            </a:r>
            <a:endParaRPr dirty="0" sz="9600" lang="en-US"/>
          </a:p>
        </p:txBody>
      </p:sp>
      <p:sp>
        <p:nvSpPr>
          <p:cNvPr id="1048607" name="Text 12"/>
          <p:cNvSpPr/>
          <p:nvPr/>
        </p:nvSpPr>
        <p:spPr>
          <a:xfrm>
            <a:off x="365760" y="4663440"/>
            <a:ext cx="841248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i="1" lang="en-US">
                <a:solidFill>
                  <a:srgbClr val="2196F3"/>
                </a:solidFill>
              </a:rPr>
              <a:t>Yön bilmek bizi doğru yere götürür!</a:t>
            </a:r>
            <a:endParaRPr dirty="0" sz="14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F"/>
        </a:solidFill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hape 0"/>
          <p:cNvSpPr/>
          <p:nvPr/>
        </p:nvSpPr>
        <p:spPr>
          <a:xfrm>
            <a:off x="0" y="0"/>
            <a:ext cx="9144000" cy="731520"/>
          </a:xfrm>
          <a:prstGeom prst="rect"/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48612" name="Text 1"/>
          <p:cNvSpPr/>
          <p:nvPr/>
        </p:nvSpPr>
        <p:spPr>
          <a:xfrm>
            <a:off x="274320" y="0"/>
            <a:ext cx="859536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DÖRT ANA YÖN</a:t>
            </a:r>
            <a:endParaRPr dirty="0" sz="2800" lang="en-US"/>
          </a:p>
        </p:txBody>
      </p:sp>
      <p:sp>
        <p:nvSpPr>
          <p:cNvPr id="1048613" name="Shape 2"/>
          <p:cNvSpPr/>
          <p:nvPr/>
        </p:nvSpPr>
        <p:spPr>
          <a:xfrm>
            <a:off x="3371740" y="1556657"/>
            <a:ext cx="2510246" cy="2510246"/>
          </a:xfrm>
          <a:prstGeom prst="ellipse"/>
          <a:solidFill>
            <a:srgbClr val="E3F2FD"/>
          </a:solidFill>
          <a:ln w="50800">
            <a:solidFill>
              <a:srgbClr val="2196F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14" name="Text 3"/>
          <p:cNvSpPr/>
          <p:nvPr/>
        </p:nvSpPr>
        <p:spPr>
          <a:xfrm>
            <a:off x="3390247" y="1508759"/>
            <a:ext cx="2564674" cy="2564675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6400" lang="en-US">
                <a:solidFill>
                  <a:srgbClr val="000000"/>
                </a:solidFill>
              </a:rPr>
              <a:t>🧭</a:t>
            </a:r>
            <a:endParaRPr dirty="0" sz="6400" lang="en-US"/>
          </a:p>
        </p:txBody>
      </p:sp>
      <p:sp>
        <p:nvSpPr>
          <p:cNvPr id="1048615" name="Shape 4"/>
          <p:cNvSpPr/>
          <p:nvPr/>
        </p:nvSpPr>
        <p:spPr>
          <a:xfrm>
            <a:off x="3474720" y="914400"/>
            <a:ext cx="2194560" cy="594360"/>
          </a:xfrm>
          <a:prstGeom prst="rect"/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16" name="Text 5"/>
          <p:cNvSpPr/>
          <p:nvPr/>
        </p:nvSpPr>
        <p:spPr>
          <a:xfrm>
            <a:off x="3474720" y="914400"/>
            <a:ext cx="219456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565C0"/>
                </a:solidFill>
              </a:rPr>
              <a:t>❄️  KUZEY</a:t>
            </a:r>
            <a:endParaRPr dirty="0" sz="1600" lang="en-US"/>
          </a:p>
        </p:txBody>
      </p:sp>
      <p:sp>
        <p:nvSpPr>
          <p:cNvPr id="1048617" name="Shape 6"/>
          <p:cNvSpPr/>
          <p:nvPr/>
        </p:nvSpPr>
        <p:spPr>
          <a:xfrm>
            <a:off x="3474720" y="4114800"/>
            <a:ext cx="2194560" cy="594360"/>
          </a:xfrm>
          <a:prstGeom prst="rect"/>
          <a:solidFill>
            <a:srgbClr val="FFEBEE"/>
          </a:solidFill>
          <a:ln w="25400">
            <a:solidFill>
              <a:srgbClr val="C62828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18" name="Text 7"/>
          <p:cNvSpPr/>
          <p:nvPr/>
        </p:nvSpPr>
        <p:spPr>
          <a:xfrm>
            <a:off x="3474720" y="4114800"/>
            <a:ext cx="219456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C62828"/>
                </a:solidFill>
              </a:rPr>
              <a:t>🌞  GÜNEY</a:t>
            </a:r>
            <a:endParaRPr dirty="0" sz="1600" lang="en-US"/>
          </a:p>
        </p:txBody>
      </p:sp>
      <p:sp>
        <p:nvSpPr>
          <p:cNvPr id="1048619" name="Shape 8"/>
          <p:cNvSpPr/>
          <p:nvPr/>
        </p:nvSpPr>
        <p:spPr>
          <a:xfrm>
            <a:off x="6309360" y="2423160"/>
            <a:ext cx="2194560" cy="594360"/>
          </a:xfrm>
          <a:prstGeom prst="rect"/>
          <a:solidFill>
            <a:srgbClr val="FFF3E0"/>
          </a:solidFill>
          <a:ln w="25400">
            <a:solidFill>
              <a:srgbClr val="E65100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20" name="Text 9"/>
          <p:cNvSpPr/>
          <p:nvPr/>
        </p:nvSpPr>
        <p:spPr>
          <a:xfrm>
            <a:off x="6309360" y="2423160"/>
            <a:ext cx="219456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E65100"/>
                </a:solidFill>
              </a:rPr>
              <a:t>🌅  DOĞU</a:t>
            </a:r>
            <a:endParaRPr dirty="0" sz="1600" lang="en-US"/>
          </a:p>
        </p:txBody>
      </p:sp>
      <p:sp>
        <p:nvSpPr>
          <p:cNvPr id="1048621" name="Shape 10"/>
          <p:cNvSpPr/>
          <p:nvPr/>
        </p:nvSpPr>
        <p:spPr>
          <a:xfrm>
            <a:off x="640080" y="2423160"/>
            <a:ext cx="2194560" cy="594360"/>
          </a:xfrm>
          <a:prstGeom prst="rect"/>
          <a:solidFill>
            <a:srgbClr val="F3E5F5"/>
          </a:solidFill>
          <a:ln w="25400">
            <a:solidFill>
              <a:srgbClr val="6A1B9A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22" name="Text 11"/>
          <p:cNvSpPr/>
          <p:nvPr/>
        </p:nvSpPr>
        <p:spPr>
          <a:xfrm>
            <a:off x="640080" y="2423160"/>
            <a:ext cx="219456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6A1B9A"/>
                </a:solidFill>
              </a:rPr>
              <a:t>🌇  BATI</a:t>
            </a:r>
            <a:endParaRPr dirty="0" sz="1600" lang="en-US"/>
          </a:p>
        </p:txBody>
      </p:sp>
      <p:sp>
        <p:nvSpPr>
          <p:cNvPr id="1048623" name="Shape 12"/>
          <p:cNvSpPr/>
          <p:nvPr/>
        </p:nvSpPr>
        <p:spPr>
          <a:xfrm>
            <a:off x="659453" y="3096778"/>
            <a:ext cx="2011680" cy="502920"/>
          </a:xfrm>
          <a:prstGeom prst="rect"/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048624" name="Text 13"/>
          <p:cNvSpPr/>
          <p:nvPr/>
        </p:nvSpPr>
        <p:spPr>
          <a:xfrm>
            <a:off x="5843016" y="914399"/>
            <a:ext cx="192024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endParaRPr dirty="0" sz="1000" lang="en-US"/>
          </a:p>
        </p:txBody>
      </p:sp>
      <p:sp>
        <p:nvSpPr>
          <p:cNvPr id="1048625" name="Shape 14"/>
          <p:cNvSpPr/>
          <p:nvPr/>
        </p:nvSpPr>
        <p:spPr>
          <a:xfrm>
            <a:off x="3657599" y="4726437"/>
            <a:ext cx="1668242" cy="307785"/>
          </a:xfrm>
          <a:prstGeom prst="rect"/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048626" name="Text 15"/>
          <p:cNvSpPr/>
          <p:nvPr/>
        </p:nvSpPr>
        <p:spPr>
          <a:xfrm>
            <a:off x="3666743" y="4628869"/>
            <a:ext cx="192024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lang="en-US">
                <a:solidFill>
                  <a:srgbClr val="C62828"/>
                </a:solidFill>
              </a:rPr>
              <a:t>GÜNEY: </a:t>
            </a:r>
            <a:r>
              <a:rPr dirty="0" sz="1000" lang="en-US">
                <a:solidFill>
                  <a:srgbClr val="1A2A3A"/>
                </a:solidFill>
              </a:rPr>
              <a:t>Sıcak bölgeler bu yöndedir.</a:t>
            </a:r>
            <a:endParaRPr dirty="0" sz="1000" lang="en-US"/>
          </a:p>
        </p:txBody>
      </p:sp>
      <p:sp>
        <p:nvSpPr>
          <p:cNvPr id="1048627" name="Shape 16"/>
          <p:cNvSpPr/>
          <p:nvPr/>
        </p:nvSpPr>
        <p:spPr>
          <a:xfrm>
            <a:off x="3571935" y="430889"/>
            <a:ext cx="1753906" cy="424867"/>
          </a:xfrm>
          <a:prstGeom prst="rect"/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  <p:txBody>
          <a:bodyPr/>
          <a:p>
            <a:r>
              <a:rPr altLang="tr" sz="1200" lang="en-US">
                <a:solidFill>
                  <a:srgbClr val="FF0000"/>
                </a:solidFill>
              </a:rPr>
              <a:t>KUZEY</a:t>
            </a:r>
            <a:r>
              <a:rPr altLang="tr" sz="1200" lang="en-US"/>
              <a:t>: Kutup yıldızı bu yöndedir.</a:t>
            </a:r>
            <a:endParaRPr altLang="en-US" sz="1200" lang="zh-CN"/>
          </a:p>
        </p:txBody>
      </p:sp>
      <p:sp>
        <p:nvSpPr>
          <p:cNvPr id="1048628" name="Text 17"/>
          <p:cNvSpPr/>
          <p:nvPr/>
        </p:nvSpPr>
        <p:spPr>
          <a:xfrm>
            <a:off x="6582592" y="3135112"/>
            <a:ext cx="1648097" cy="2677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endParaRPr dirty="0" sz="1000" lang="en-US"/>
          </a:p>
        </p:txBody>
      </p:sp>
      <p:sp>
        <p:nvSpPr>
          <p:cNvPr id="1048629" name="Shape 18"/>
          <p:cNvSpPr/>
          <p:nvPr/>
        </p:nvSpPr>
        <p:spPr>
          <a:xfrm>
            <a:off x="6400800" y="3151383"/>
            <a:ext cx="2011680" cy="502920"/>
          </a:xfrm>
          <a:prstGeom prst="rect"/>
          <a:solidFill>
            <a:srgbClr val="FFFFFF"/>
          </a:solidFill>
          <a:ln w="25400">
            <a:solidFill>
              <a:srgbClr val="6A1B9A"/>
            </a:solidFill>
            <a:prstDash val="solid"/>
          </a:ln>
        </p:spPr>
        <p:txBody>
          <a:bodyPr/>
          <a:p>
            <a:r>
              <a:rPr b="1" dirty="0" sz="1200" lang="en-US">
                <a:solidFill>
                  <a:srgbClr val="E65100"/>
                </a:solidFill>
              </a:rPr>
              <a:t>DOĞU: </a:t>
            </a:r>
            <a:r>
              <a:rPr dirty="0" sz="1200" lang="en-US">
                <a:solidFill>
                  <a:srgbClr val="1A2A3A"/>
                </a:solidFill>
              </a:rPr>
              <a:t>Güneş doğudan doğar.</a:t>
            </a:r>
            <a:r>
              <a:rPr altLang="tr" sz="1200" lang="en-US"/>
              <a:t>n doğar.</a:t>
            </a:r>
            <a:endParaRPr altLang="en-US" sz="1200" lang="zh-CN"/>
          </a:p>
        </p:txBody>
      </p:sp>
      <p:sp>
        <p:nvSpPr>
          <p:cNvPr id="1048630" name="Text 19"/>
          <p:cNvSpPr/>
          <p:nvPr/>
        </p:nvSpPr>
        <p:spPr>
          <a:xfrm>
            <a:off x="750892" y="3096777"/>
            <a:ext cx="192024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altLang="tr" dirty="0" sz="1400" lang="en-US">
                <a:solidFill>
                  <a:srgbClr val="FF0000"/>
                </a:solidFill>
              </a:rPr>
              <a:t>BATI</a:t>
            </a:r>
            <a:r>
              <a:rPr altLang="tr" dirty="0" sz="1200" lang="en-US"/>
              <a:t>: Güneş batıdan </a:t>
            </a:r>
            <a:r>
              <a:rPr altLang="tr" dirty="0" sz="1200" lang="en-US"/>
              <a:t>batar.</a:t>
            </a:r>
            <a:endParaRPr dirty="0" sz="12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hape 0"/>
          <p:cNvSpPr/>
          <p:nvPr/>
        </p:nvSpPr>
        <p:spPr>
          <a:xfrm>
            <a:off x="0" y="0"/>
            <a:ext cx="9144000" cy="731520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635" name="Text 1"/>
          <p:cNvSpPr/>
          <p:nvPr/>
        </p:nvSpPr>
        <p:spPr>
          <a:xfrm>
            <a:off x="274320" y="0"/>
            <a:ext cx="859536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KUZEY ve GÜNEY</a:t>
            </a:r>
            <a:endParaRPr dirty="0" sz="2800" lang="en-US"/>
          </a:p>
        </p:txBody>
      </p:sp>
      <p:sp>
        <p:nvSpPr>
          <p:cNvPr id="1048636" name="Shape 2"/>
          <p:cNvSpPr/>
          <p:nvPr/>
        </p:nvSpPr>
        <p:spPr>
          <a:xfrm>
            <a:off x="365760" y="914400"/>
            <a:ext cx="3931920" cy="3840480"/>
          </a:xfrm>
          <a:prstGeom prst="rect"/>
          <a:solidFill>
            <a:srgbClr val="E3F2FD"/>
          </a:solidFill>
          <a:ln w="38100">
            <a:solidFill>
              <a:srgbClr val="1565C0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37" name="Shape 3"/>
          <p:cNvSpPr/>
          <p:nvPr/>
        </p:nvSpPr>
        <p:spPr>
          <a:xfrm>
            <a:off x="365760" y="914400"/>
            <a:ext cx="3931920" cy="594360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638" name="Text 4"/>
          <p:cNvSpPr/>
          <p:nvPr/>
        </p:nvSpPr>
        <p:spPr>
          <a:xfrm>
            <a:off x="365760" y="914400"/>
            <a:ext cx="393192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❄️  KUZEY</a:t>
            </a:r>
            <a:endParaRPr dirty="0" sz="1800" lang="en-US"/>
          </a:p>
        </p:txBody>
      </p:sp>
      <p:sp>
        <p:nvSpPr>
          <p:cNvPr id="1048639" name="Text 5"/>
          <p:cNvSpPr/>
          <p:nvPr/>
        </p:nvSpPr>
        <p:spPr>
          <a:xfrm>
            <a:off x="731520" y="1645920"/>
            <a:ext cx="109728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4000" lang="en-US">
                <a:solidFill>
                  <a:srgbClr val="000000"/>
                </a:solidFill>
              </a:rPr>
              <a:t>🌟</a:t>
            </a:r>
            <a:endParaRPr dirty="0" sz="4000" lang="en-US"/>
          </a:p>
        </p:txBody>
      </p:sp>
      <p:sp>
        <p:nvSpPr>
          <p:cNvPr id="1048640" name="Text 6"/>
          <p:cNvSpPr/>
          <p:nvPr/>
        </p:nvSpPr>
        <p:spPr>
          <a:xfrm>
            <a:off x="1828800" y="1691640"/>
            <a:ext cx="22860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A2A3A"/>
                </a:solidFill>
              </a:rPr>
              <a:t>Kutup Yıldızı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her zaman Kuzey'i gösterir.</a:t>
            </a:r>
            <a:endParaRPr dirty="0" sz="1300" lang="en-US"/>
          </a:p>
        </p:txBody>
      </p:sp>
      <p:sp>
        <p:nvSpPr>
          <p:cNvPr id="1048641" name="Text 7"/>
          <p:cNvSpPr/>
          <p:nvPr/>
        </p:nvSpPr>
        <p:spPr>
          <a:xfrm>
            <a:off x="731520" y="2651760"/>
            <a:ext cx="109728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3800" lang="en-US">
                <a:solidFill>
                  <a:srgbClr val="000000"/>
                </a:solidFill>
              </a:rPr>
              <a:t>🌨️</a:t>
            </a:r>
            <a:endParaRPr dirty="0" sz="3800" lang="en-US"/>
          </a:p>
        </p:txBody>
      </p:sp>
      <p:sp>
        <p:nvSpPr>
          <p:cNvPr id="1048642" name="Text 8"/>
          <p:cNvSpPr/>
          <p:nvPr/>
        </p:nvSpPr>
        <p:spPr>
          <a:xfrm>
            <a:off x="1828800" y="2697480"/>
            <a:ext cx="22860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Soğuk kutup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bölgeleri Kuzey'dedir.</a:t>
            </a:r>
            <a:endParaRPr dirty="0" sz="1300" lang="en-US"/>
          </a:p>
        </p:txBody>
      </p:sp>
      <p:sp>
        <p:nvSpPr>
          <p:cNvPr id="1048643" name="Text 9"/>
          <p:cNvSpPr/>
          <p:nvPr/>
        </p:nvSpPr>
        <p:spPr>
          <a:xfrm>
            <a:off x="731520" y="3474720"/>
            <a:ext cx="109728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3400" lang="en-US">
                <a:solidFill>
                  <a:srgbClr val="000000"/>
                </a:solidFill>
              </a:rPr>
              <a:t>🐧</a:t>
            </a:r>
            <a:endParaRPr dirty="0" sz="3400" lang="en-US"/>
          </a:p>
        </p:txBody>
      </p:sp>
      <p:sp>
        <p:nvSpPr>
          <p:cNvPr id="1048644" name="Text 10"/>
          <p:cNvSpPr/>
          <p:nvPr/>
        </p:nvSpPr>
        <p:spPr>
          <a:xfrm>
            <a:off x="1828800" y="3520440"/>
            <a:ext cx="228600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Kutup hayvanları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bu yönde yaşar.</a:t>
            </a:r>
            <a:endParaRPr dirty="0" sz="1300" lang="en-US"/>
          </a:p>
        </p:txBody>
      </p:sp>
      <p:sp>
        <p:nvSpPr>
          <p:cNvPr id="1048645" name="Shape 11"/>
          <p:cNvSpPr/>
          <p:nvPr/>
        </p:nvSpPr>
        <p:spPr>
          <a:xfrm>
            <a:off x="4846320" y="914400"/>
            <a:ext cx="3931920" cy="3840480"/>
          </a:xfrm>
          <a:prstGeom prst="rect"/>
          <a:solidFill>
            <a:srgbClr val="FFEBEE"/>
          </a:solidFill>
          <a:ln w="38100">
            <a:solidFill>
              <a:srgbClr val="C62828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46" name="Shape 12"/>
          <p:cNvSpPr/>
          <p:nvPr/>
        </p:nvSpPr>
        <p:spPr>
          <a:xfrm>
            <a:off x="4846320" y="914400"/>
            <a:ext cx="3931920" cy="594360"/>
          </a:xfrm>
          <a:prstGeom prst="rect"/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48647" name="Text 13"/>
          <p:cNvSpPr/>
          <p:nvPr/>
        </p:nvSpPr>
        <p:spPr>
          <a:xfrm>
            <a:off x="4846320" y="914400"/>
            <a:ext cx="393192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🌞  GÜNEY</a:t>
            </a:r>
            <a:endParaRPr dirty="0" sz="1800" lang="en-US"/>
          </a:p>
        </p:txBody>
      </p:sp>
      <p:sp>
        <p:nvSpPr>
          <p:cNvPr id="1048648" name="Text 14"/>
          <p:cNvSpPr/>
          <p:nvPr/>
        </p:nvSpPr>
        <p:spPr>
          <a:xfrm>
            <a:off x="5212080" y="1645920"/>
            <a:ext cx="109728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4000" lang="en-US">
                <a:solidFill>
                  <a:srgbClr val="000000"/>
                </a:solidFill>
              </a:rPr>
              <a:t>☀️</a:t>
            </a:r>
            <a:endParaRPr dirty="0" sz="4000" lang="en-US"/>
          </a:p>
        </p:txBody>
      </p:sp>
      <p:sp>
        <p:nvSpPr>
          <p:cNvPr id="1048649" name="Text 15"/>
          <p:cNvSpPr/>
          <p:nvPr/>
        </p:nvSpPr>
        <p:spPr>
          <a:xfrm>
            <a:off x="6309360" y="1691640"/>
            <a:ext cx="22860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A2A3A"/>
                </a:solidFill>
              </a:rPr>
              <a:t>Sıcak tropik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bölgeler Güney'dedir.</a:t>
            </a:r>
            <a:endParaRPr dirty="0" sz="1300" lang="en-US"/>
          </a:p>
        </p:txBody>
      </p:sp>
      <p:sp>
        <p:nvSpPr>
          <p:cNvPr id="1048650" name="Text 16"/>
          <p:cNvSpPr/>
          <p:nvPr/>
        </p:nvSpPr>
        <p:spPr>
          <a:xfrm>
            <a:off x="5212080" y="2651760"/>
            <a:ext cx="109728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3800" lang="en-US">
                <a:solidFill>
                  <a:srgbClr val="000000"/>
                </a:solidFill>
              </a:rPr>
              <a:t>🌴</a:t>
            </a:r>
            <a:endParaRPr dirty="0" sz="3800" lang="en-US"/>
          </a:p>
        </p:txBody>
      </p:sp>
      <p:sp>
        <p:nvSpPr>
          <p:cNvPr id="1048651" name="Text 17"/>
          <p:cNvSpPr/>
          <p:nvPr/>
        </p:nvSpPr>
        <p:spPr>
          <a:xfrm>
            <a:off x="6309360" y="2697480"/>
            <a:ext cx="228600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Palmiyeler ve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sıcak iklim bu yönde.</a:t>
            </a:r>
            <a:endParaRPr dirty="0" sz="1300" lang="en-US"/>
          </a:p>
        </p:txBody>
      </p:sp>
      <p:sp>
        <p:nvSpPr>
          <p:cNvPr id="1048652" name="Text 18"/>
          <p:cNvSpPr/>
          <p:nvPr/>
        </p:nvSpPr>
        <p:spPr>
          <a:xfrm>
            <a:off x="5212080" y="3474720"/>
            <a:ext cx="109728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3400" lang="en-US">
                <a:solidFill>
                  <a:srgbClr val="000000"/>
                </a:solidFill>
              </a:rPr>
              <a:t>🦁</a:t>
            </a:r>
            <a:endParaRPr dirty="0" sz="3400" lang="en-US"/>
          </a:p>
        </p:txBody>
      </p:sp>
      <p:sp>
        <p:nvSpPr>
          <p:cNvPr id="1048653" name="Text 19"/>
          <p:cNvSpPr/>
          <p:nvPr/>
        </p:nvSpPr>
        <p:spPr>
          <a:xfrm>
            <a:off x="6309360" y="3520440"/>
            <a:ext cx="228600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Afrika hayvanları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bu bölgede yaşar.</a:t>
            </a:r>
            <a:endParaRPr dirty="0" sz="13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Shape 0"/>
          <p:cNvSpPr/>
          <p:nvPr/>
        </p:nvSpPr>
        <p:spPr>
          <a:xfrm>
            <a:off x="0" y="0"/>
            <a:ext cx="9144000" cy="731520"/>
          </a:xfrm>
          <a:prstGeom prst="rect"/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48658" name="Text 1"/>
          <p:cNvSpPr/>
          <p:nvPr/>
        </p:nvSpPr>
        <p:spPr>
          <a:xfrm>
            <a:off x="274320" y="0"/>
            <a:ext cx="859536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DOĞU ve BATI</a:t>
            </a:r>
            <a:endParaRPr dirty="0" sz="2800" lang="en-US"/>
          </a:p>
        </p:txBody>
      </p:sp>
      <p:sp>
        <p:nvSpPr>
          <p:cNvPr id="1048659" name="Shape 2"/>
          <p:cNvSpPr/>
          <p:nvPr/>
        </p:nvSpPr>
        <p:spPr>
          <a:xfrm>
            <a:off x="365760" y="914400"/>
            <a:ext cx="3931920" cy="3840480"/>
          </a:xfrm>
          <a:prstGeom prst="rect"/>
          <a:solidFill>
            <a:srgbClr val="FFF3E0"/>
          </a:solidFill>
          <a:ln w="38100">
            <a:solidFill>
              <a:srgbClr val="E65100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60" name="Shape 3"/>
          <p:cNvSpPr/>
          <p:nvPr/>
        </p:nvSpPr>
        <p:spPr>
          <a:xfrm>
            <a:off x="365760" y="914400"/>
            <a:ext cx="3931920" cy="594360"/>
          </a:xfrm>
          <a:prstGeom prst="rect"/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48661" name="Text 4"/>
          <p:cNvSpPr/>
          <p:nvPr/>
        </p:nvSpPr>
        <p:spPr>
          <a:xfrm>
            <a:off x="365760" y="914400"/>
            <a:ext cx="393192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🌅  DOĞU</a:t>
            </a:r>
            <a:endParaRPr dirty="0" sz="1800" lang="en-US"/>
          </a:p>
        </p:txBody>
      </p:sp>
      <p:sp>
        <p:nvSpPr>
          <p:cNvPr id="1048662" name="Text 5"/>
          <p:cNvSpPr/>
          <p:nvPr/>
        </p:nvSpPr>
        <p:spPr>
          <a:xfrm>
            <a:off x="640080" y="1645920"/>
            <a:ext cx="1188720" cy="11887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4400" lang="en-US">
                <a:solidFill>
                  <a:srgbClr val="000000"/>
                </a:solidFill>
              </a:rPr>
              <a:t>🌄</a:t>
            </a:r>
            <a:endParaRPr dirty="0" sz="4400" lang="en-US"/>
          </a:p>
        </p:txBody>
      </p:sp>
      <p:sp>
        <p:nvSpPr>
          <p:cNvPr id="1048663" name="Text 6"/>
          <p:cNvSpPr/>
          <p:nvPr/>
        </p:nvSpPr>
        <p:spPr>
          <a:xfrm>
            <a:off x="1920240" y="1691640"/>
            <a:ext cx="219456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Güneş sabah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Doğu'dan doğar.</a:t>
            </a:r>
            <a:endParaRPr dirty="0" sz="1300" lang="en-US"/>
          </a:p>
        </p:txBody>
      </p:sp>
      <p:sp>
        <p:nvSpPr>
          <p:cNvPr id="1048664" name="Text 7"/>
          <p:cNvSpPr/>
          <p:nvPr/>
        </p:nvSpPr>
        <p:spPr>
          <a:xfrm>
            <a:off x="640080" y="2651760"/>
            <a:ext cx="118872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4000" lang="en-US">
                <a:solidFill>
                  <a:srgbClr val="000000"/>
                </a:solidFill>
              </a:rPr>
              <a:t>🐓</a:t>
            </a:r>
            <a:endParaRPr dirty="0" sz="4000" lang="en-US"/>
          </a:p>
        </p:txBody>
      </p:sp>
      <p:sp>
        <p:nvSpPr>
          <p:cNvPr id="1048665" name="Text 8"/>
          <p:cNvSpPr/>
          <p:nvPr/>
        </p:nvSpPr>
        <p:spPr>
          <a:xfrm>
            <a:off x="1920240" y="2697480"/>
            <a:ext cx="219456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Sabahın ilk ışıkları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bu yönden gelir.</a:t>
            </a:r>
            <a:endParaRPr dirty="0" sz="1300" lang="en-US"/>
          </a:p>
        </p:txBody>
      </p:sp>
      <p:sp>
        <p:nvSpPr>
          <p:cNvPr id="1048666" name="Text 9"/>
          <p:cNvSpPr/>
          <p:nvPr/>
        </p:nvSpPr>
        <p:spPr>
          <a:xfrm>
            <a:off x="640080" y="3520440"/>
            <a:ext cx="1188720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☀️➡</a:t>
            </a:r>
            <a:endParaRPr dirty="0" sz="2800" lang="en-US"/>
          </a:p>
        </p:txBody>
      </p:sp>
      <p:sp>
        <p:nvSpPr>
          <p:cNvPr id="1048667" name="Text 10"/>
          <p:cNvSpPr/>
          <p:nvPr/>
        </p:nvSpPr>
        <p:spPr>
          <a:xfrm>
            <a:off x="1920240" y="3547872"/>
            <a:ext cx="219456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Güneş her sabah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Doğu'dan yükselir.</a:t>
            </a:r>
            <a:endParaRPr dirty="0" sz="1300" lang="en-US"/>
          </a:p>
        </p:txBody>
      </p:sp>
      <p:sp>
        <p:nvSpPr>
          <p:cNvPr id="1048668" name="Shape 11"/>
          <p:cNvSpPr/>
          <p:nvPr/>
        </p:nvSpPr>
        <p:spPr>
          <a:xfrm>
            <a:off x="4846320" y="914400"/>
            <a:ext cx="3931920" cy="3840480"/>
          </a:xfrm>
          <a:prstGeom prst="rect"/>
          <a:solidFill>
            <a:srgbClr val="F3E5F5"/>
          </a:solidFill>
          <a:ln w="38100">
            <a:solidFill>
              <a:srgbClr val="6A1B9A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69" name="Shape 12"/>
          <p:cNvSpPr/>
          <p:nvPr/>
        </p:nvSpPr>
        <p:spPr>
          <a:xfrm>
            <a:off x="4846320" y="914400"/>
            <a:ext cx="3931920" cy="594360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670" name="Text 13"/>
          <p:cNvSpPr/>
          <p:nvPr/>
        </p:nvSpPr>
        <p:spPr>
          <a:xfrm>
            <a:off x="4846320" y="914400"/>
            <a:ext cx="393192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🌇  BATI</a:t>
            </a:r>
            <a:endParaRPr dirty="0" sz="1800" lang="en-US"/>
          </a:p>
        </p:txBody>
      </p:sp>
      <p:sp>
        <p:nvSpPr>
          <p:cNvPr id="1048671" name="Text 14"/>
          <p:cNvSpPr/>
          <p:nvPr/>
        </p:nvSpPr>
        <p:spPr>
          <a:xfrm>
            <a:off x="5120640" y="1645920"/>
            <a:ext cx="1188720" cy="11887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4400" lang="en-US">
                <a:solidFill>
                  <a:srgbClr val="000000"/>
                </a:solidFill>
              </a:rPr>
              <a:t>🌆</a:t>
            </a:r>
            <a:endParaRPr dirty="0" sz="4400" lang="en-US"/>
          </a:p>
        </p:txBody>
      </p:sp>
      <p:sp>
        <p:nvSpPr>
          <p:cNvPr id="1048672" name="Text 15"/>
          <p:cNvSpPr/>
          <p:nvPr/>
        </p:nvSpPr>
        <p:spPr>
          <a:xfrm>
            <a:off x="6400800" y="1691640"/>
            <a:ext cx="219456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Güneş akşam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Batı'ya batar.</a:t>
            </a:r>
            <a:endParaRPr dirty="0" sz="1300" lang="en-US"/>
          </a:p>
        </p:txBody>
      </p:sp>
      <p:sp>
        <p:nvSpPr>
          <p:cNvPr id="1048673" name="Text 16"/>
          <p:cNvSpPr/>
          <p:nvPr/>
        </p:nvSpPr>
        <p:spPr>
          <a:xfrm>
            <a:off x="5120640" y="2651760"/>
            <a:ext cx="118872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4000" lang="en-US">
                <a:solidFill>
                  <a:srgbClr val="000000"/>
                </a:solidFill>
              </a:rPr>
              <a:t>🦉</a:t>
            </a:r>
            <a:endParaRPr dirty="0" sz="4000" lang="en-US"/>
          </a:p>
        </p:txBody>
      </p:sp>
      <p:sp>
        <p:nvSpPr>
          <p:cNvPr id="1048674" name="Text 17"/>
          <p:cNvSpPr/>
          <p:nvPr/>
        </p:nvSpPr>
        <p:spPr>
          <a:xfrm>
            <a:off x="6400800" y="2697480"/>
            <a:ext cx="219456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Akşamın kızıl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rengi bu yönde görülür.</a:t>
            </a:r>
            <a:endParaRPr dirty="0" sz="1300" lang="en-US"/>
          </a:p>
        </p:txBody>
      </p:sp>
      <p:sp>
        <p:nvSpPr>
          <p:cNvPr id="1048675" name="Text 18"/>
          <p:cNvSpPr/>
          <p:nvPr/>
        </p:nvSpPr>
        <p:spPr>
          <a:xfrm>
            <a:off x="5120640" y="3520440"/>
            <a:ext cx="1188720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⬅☀️</a:t>
            </a:r>
            <a:endParaRPr dirty="0" sz="2800" lang="en-US"/>
          </a:p>
        </p:txBody>
      </p:sp>
      <p:sp>
        <p:nvSpPr>
          <p:cNvPr id="1048676" name="Text 19"/>
          <p:cNvSpPr/>
          <p:nvPr/>
        </p:nvSpPr>
        <p:spPr>
          <a:xfrm>
            <a:off x="6400800" y="3547872"/>
            <a:ext cx="219456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Güneş her akşam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A2A3A"/>
                </a:solidFill>
              </a:rPr>
              <a:t>Batı'da kaybolur.</a:t>
            </a:r>
            <a:endParaRPr dirty="0" sz="13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E7"/>
        </a:solidFill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Shape 0"/>
          <p:cNvSpPr/>
          <p:nvPr/>
        </p:nvSpPr>
        <p:spPr>
          <a:xfrm>
            <a:off x="0" y="0"/>
            <a:ext cx="9144000" cy="731520"/>
          </a:xfrm>
          <a:prstGeom prst="rect"/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48681" name="Text 1"/>
          <p:cNvSpPr/>
          <p:nvPr/>
        </p:nvSpPr>
        <p:spPr>
          <a:xfrm>
            <a:off x="274320" y="0"/>
            <a:ext cx="859536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 GÜNEŞLE YÖN BULMA</a:t>
            </a:r>
            <a:endParaRPr dirty="0" sz="2600" lang="en-US"/>
          </a:p>
        </p:txBody>
      </p:sp>
      <p:sp>
        <p:nvSpPr>
          <p:cNvPr id="1048682" name="Shape 2"/>
          <p:cNvSpPr/>
          <p:nvPr/>
        </p:nvSpPr>
        <p:spPr>
          <a:xfrm>
            <a:off x="320040" y="914400"/>
            <a:ext cx="2697480" cy="3931920"/>
          </a:xfrm>
          <a:prstGeom prst="rect"/>
          <a:solidFill>
            <a:srgbClr val="FFF3E0"/>
          </a:solidFill>
          <a:ln w="38100">
            <a:solidFill>
              <a:srgbClr val="E65100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83" name="Shape 3"/>
          <p:cNvSpPr/>
          <p:nvPr/>
        </p:nvSpPr>
        <p:spPr>
          <a:xfrm>
            <a:off x="320040" y="914400"/>
            <a:ext cx="2697480" cy="548640"/>
          </a:xfrm>
          <a:prstGeom prst="rect"/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48684" name="Text 4"/>
          <p:cNvSpPr/>
          <p:nvPr/>
        </p:nvSpPr>
        <p:spPr>
          <a:xfrm>
            <a:off x="320040" y="914400"/>
            <a:ext cx="269748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</a:rPr>
              <a:t>SABAH</a:t>
            </a:r>
            <a:endParaRPr dirty="0" sz="1500" lang="en-US"/>
          </a:p>
        </p:txBody>
      </p:sp>
      <p:sp>
        <p:nvSpPr>
          <p:cNvPr id="1048685" name="Text 5"/>
          <p:cNvSpPr/>
          <p:nvPr/>
        </p:nvSpPr>
        <p:spPr>
          <a:xfrm>
            <a:off x="320040" y="1508760"/>
            <a:ext cx="2697480" cy="12801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5600" lang="en-US">
                <a:solidFill>
                  <a:srgbClr val="000000"/>
                </a:solidFill>
              </a:rPr>
              <a:t>🌄</a:t>
            </a:r>
            <a:endParaRPr dirty="0" sz="5600" lang="en-US"/>
          </a:p>
        </p:txBody>
      </p:sp>
      <p:sp>
        <p:nvSpPr>
          <p:cNvPr id="1048686" name="Text 6"/>
          <p:cNvSpPr/>
          <p:nvPr/>
        </p:nvSpPr>
        <p:spPr>
          <a:xfrm>
            <a:off x="411480" y="2834640"/>
            <a:ext cx="25146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E65100"/>
                </a:solidFill>
              </a:rPr>
              <a:t>Gün doğumu</a:t>
            </a:r>
            <a:endParaRPr dirty="0" sz="1200" lang="en-US"/>
          </a:p>
        </p:txBody>
      </p:sp>
      <p:sp>
        <p:nvSpPr>
          <p:cNvPr id="1048687" name="Text 7"/>
          <p:cNvSpPr/>
          <p:nvPr/>
        </p:nvSpPr>
        <p:spPr>
          <a:xfrm>
            <a:off x="411480" y="3246120"/>
            <a:ext cx="2514600" cy="137160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Güneş DOĞU'da görünür.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Yüzün güneşe dönükse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önün DOĞU yönüdür.</a:t>
            </a:r>
            <a:endParaRPr dirty="0" sz="1200" lang="en-US"/>
          </a:p>
        </p:txBody>
      </p:sp>
      <p:sp>
        <p:nvSpPr>
          <p:cNvPr id="1048688" name="Shape 8"/>
          <p:cNvSpPr/>
          <p:nvPr/>
        </p:nvSpPr>
        <p:spPr>
          <a:xfrm>
            <a:off x="3200400" y="914400"/>
            <a:ext cx="2697480" cy="3931920"/>
          </a:xfrm>
          <a:prstGeom prst="rect"/>
          <a:solidFill>
            <a:srgbClr val="FFF8E1"/>
          </a:solidFill>
          <a:ln w="38100">
            <a:solidFill>
              <a:srgbClr val="F57F1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89" name="Shape 9"/>
          <p:cNvSpPr/>
          <p:nvPr/>
        </p:nvSpPr>
        <p:spPr>
          <a:xfrm>
            <a:off x="3200400" y="914400"/>
            <a:ext cx="2697480" cy="548640"/>
          </a:xfrm>
          <a:prstGeom prst="rect"/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48690" name="Text 10"/>
          <p:cNvSpPr/>
          <p:nvPr/>
        </p:nvSpPr>
        <p:spPr>
          <a:xfrm>
            <a:off x="3200400" y="914400"/>
            <a:ext cx="269748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</a:rPr>
              <a:t>ÖĞLE</a:t>
            </a:r>
            <a:endParaRPr dirty="0" sz="1500" lang="en-US"/>
          </a:p>
        </p:txBody>
      </p:sp>
      <p:sp>
        <p:nvSpPr>
          <p:cNvPr id="1048691" name="Text 11"/>
          <p:cNvSpPr/>
          <p:nvPr/>
        </p:nvSpPr>
        <p:spPr>
          <a:xfrm>
            <a:off x="3200400" y="1508760"/>
            <a:ext cx="2697480" cy="12801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5600" lang="en-US">
                <a:solidFill>
                  <a:srgbClr val="000000"/>
                </a:solidFill>
              </a:rPr>
              <a:t>🌞</a:t>
            </a:r>
            <a:endParaRPr dirty="0" sz="5600" lang="en-US"/>
          </a:p>
        </p:txBody>
      </p:sp>
      <p:sp>
        <p:nvSpPr>
          <p:cNvPr id="1048692" name="Text 12"/>
          <p:cNvSpPr/>
          <p:nvPr/>
        </p:nvSpPr>
        <p:spPr>
          <a:xfrm>
            <a:off x="3291840" y="2834640"/>
            <a:ext cx="25146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57F17"/>
                </a:solidFill>
              </a:rPr>
              <a:t>Gün ortası</a:t>
            </a:r>
            <a:endParaRPr dirty="0" sz="1200" lang="en-US"/>
          </a:p>
        </p:txBody>
      </p:sp>
      <p:sp>
        <p:nvSpPr>
          <p:cNvPr id="1048693" name="Text 13"/>
          <p:cNvSpPr/>
          <p:nvPr/>
        </p:nvSpPr>
        <p:spPr>
          <a:xfrm>
            <a:off x="3291840" y="3246120"/>
            <a:ext cx="2514600" cy="137160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Güneş tam tepede.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Gölgen KUZEY'e düşer.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En kısa gölge bu zamandadır.</a:t>
            </a:r>
            <a:endParaRPr dirty="0" sz="1200" lang="en-US"/>
          </a:p>
        </p:txBody>
      </p:sp>
      <p:sp>
        <p:nvSpPr>
          <p:cNvPr id="1048694" name="Shape 14"/>
          <p:cNvSpPr/>
          <p:nvPr/>
        </p:nvSpPr>
        <p:spPr>
          <a:xfrm>
            <a:off x="6080760" y="914400"/>
            <a:ext cx="2697480" cy="3931920"/>
          </a:xfrm>
          <a:prstGeom prst="rect"/>
          <a:solidFill>
            <a:srgbClr val="F3E5F5"/>
          </a:solidFill>
          <a:ln w="38100">
            <a:solidFill>
              <a:srgbClr val="6A1B9A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95" name="Shape 15"/>
          <p:cNvSpPr/>
          <p:nvPr/>
        </p:nvSpPr>
        <p:spPr>
          <a:xfrm>
            <a:off x="6080760" y="914400"/>
            <a:ext cx="2697480" cy="548640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696" name="Text 16"/>
          <p:cNvSpPr/>
          <p:nvPr/>
        </p:nvSpPr>
        <p:spPr>
          <a:xfrm>
            <a:off x="6080760" y="914400"/>
            <a:ext cx="269748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</a:rPr>
              <a:t>AKŞAM</a:t>
            </a:r>
            <a:endParaRPr dirty="0" sz="1500" lang="en-US"/>
          </a:p>
        </p:txBody>
      </p:sp>
      <p:sp>
        <p:nvSpPr>
          <p:cNvPr id="1048697" name="Text 17"/>
          <p:cNvSpPr/>
          <p:nvPr/>
        </p:nvSpPr>
        <p:spPr>
          <a:xfrm>
            <a:off x="6080760" y="1508760"/>
            <a:ext cx="2697480" cy="12801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5600" lang="en-US">
                <a:solidFill>
                  <a:srgbClr val="000000"/>
                </a:solidFill>
              </a:rPr>
              <a:t>🌇</a:t>
            </a:r>
            <a:endParaRPr dirty="0" sz="5600" lang="en-US"/>
          </a:p>
        </p:txBody>
      </p:sp>
      <p:sp>
        <p:nvSpPr>
          <p:cNvPr id="1048698" name="Text 18"/>
          <p:cNvSpPr/>
          <p:nvPr/>
        </p:nvSpPr>
        <p:spPr>
          <a:xfrm>
            <a:off x="6172200" y="2834640"/>
            <a:ext cx="25146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6A1B9A"/>
                </a:solidFill>
              </a:rPr>
              <a:t>Gün batımı</a:t>
            </a:r>
            <a:endParaRPr dirty="0" sz="1200" lang="en-US"/>
          </a:p>
        </p:txBody>
      </p:sp>
      <p:sp>
        <p:nvSpPr>
          <p:cNvPr id="1048699" name="Text 19"/>
          <p:cNvSpPr/>
          <p:nvPr/>
        </p:nvSpPr>
        <p:spPr>
          <a:xfrm>
            <a:off x="6172200" y="3246120"/>
            <a:ext cx="2514600" cy="137160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Güneş BATI'ya batar.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Akşam kızıllığı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hep Batı yönündedir.</a:t>
            </a:r>
            <a:endParaRPr dirty="0" sz="1200" lang="en-US"/>
          </a:p>
        </p:txBody>
      </p:sp>
      <p:sp>
        <p:nvSpPr>
          <p:cNvPr id="1048700" name="Text 20"/>
          <p:cNvSpPr/>
          <p:nvPr/>
        </p:nvSpPr>
        <p:spPr>
          <a:xfrm>
            <a:off x="274320" y="4754880"/>
            <a:ext cx="8595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E65100"/>
                </a:solidFill>
              </a:rPr>
              <a:t>💡 Kolayca hatırla: Güneş DOĞU'dan doğar, BATI'ya batar!</a:t>
            </a:r>
            <a:endParaRPr dirty="0" sz="13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E9"/>
        </a:solidFill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Shape 0"/>
          <p:cNvSpPr/>
          <p:nvPr/>
        </p:nvSpPr>
        <p:spPr>
          <a:xfrm>
            <a:off x="0" y="0"/>
            <a:ext cx="9144000" cy="731520"/>
          </a:xfrm>
          <a:prstGeom prst="rect"/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48705" name="Text 1"/>
          <p:cNvSpPr/>
          <p:nvPr/>
        </p:nvSpPr>
        <p:spPr>
          <a:xfrm>
            <a:off x="274320" y="0"/>
            <a:ext cx="859536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🌿  ARAÇSIZ YÖN BULMA</a:t>
            </a:r>
            <a:endParaRPr dirty="0" sz="2600" lang="en-US"/>
          </a:p>
        </p:txBody>
      </p:sp>
      <p:sp>
        <p:nvSpPr>
          <p:cNvPr id="1048706" name="Shape 2"/>
          <p:cNvSpPr/>
          <p:nvPr/>
        </p:nvSpPr>
        <p:spPr>
          <a:xfrm>
            <a:off x="320040" y="868680"/>
            <a:ext cx="2651760" cy="1828800"/>
          </a:xfrm>
          <a:prstGeom prst="rect"/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07" name="Shape 3"/>
          <p:cNvSpPr/>
          <p:nvPr/>
        </p:nvSpPr>
        <p:spPr>
          <a:xfrm>
            <a:off x="320040" y="868680"/>
            <a:ext cx="2651760" cy="457200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708" name="Text 4"/>
          <p:cNvSpPr/>
          <p:nvPr/>
        </p:nvSpPr>
        <p:spPr>
          <a:xfrm>
            <a:off x="320040" y="868680"/>
            <a:ext cx="26517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⭐  Kutup Yıldızı</a:t>
            </a:r>
            <a:endParaRPr dirty="0" sz="1300" lang="en-US"/>
          </a:p>
        </p:txBody>
      </p:sp>
      <p:sp>
        <p:nvSpPr>
          <p:cNvPr id="1048709" name="Text 5"/>
          <p:cNvSpPr/>
          <p:nvPr/>
        </p:nvSpPr>
        <p:spPr>
          <a:xfrm>
            <a:off x="411480" y="1371600"/>
            <a:ext cx="2468880" cy="12344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Geceleri gökyüzünde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sabit durur. Her zaman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KUZEY'i gösterir.</a:t>
            </a:r>
            <a:endParaRPr dirty="0" sz="1200" lang="en-US"/>
          </a:p>
        </p:txBody>
      </p:sp>
      <p:sp>
        <p:nvSpPr>
          <p:cNvPr id="1048710" name="Shape 6"/>
          <p:cNvSpPr/>
          <p:nvPr/>
        </p:nvSpPr>
        <p:spPr>
          <a:xfrm>
            <a:off x="3154680" y="868680"/>
            <a:ext cx="2651760" cy="1828800"/>
          </a:xfrm>
          <a:prstGeom prst="rect"/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11" name="Shape 7"/>
          <p:cNvSpPr/>
          <p:nvPr/>
        </p:nvSpPr>
        <p:spPr>
          <a:xfrm>
            <a:off x="3154680" y="868680"/>
            <a:ext cx="2651760" cy="457200"/>
          </a:xfrm>
          <a:prstGeom prst="rect"/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48712" name="Text 8"/>
          <p:cNvSpPr/>
          <p:nvPr/>
        </p:nvSpPr>
        <p:spPr>
          <a:xfrm>
            <a:off x="3154680" y="868680"/>
            <a:ext cx="26517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🌲  Ağaç Yosunu</a:t>
            </a:r>
            <a:endParaRPr dirty="0" sz="1300" lang="en-US"/>
          </a:p>
        </p:txBody>
      </p:sp>
      <p:sp>
        <p:nvSpPr>
          <p:cNvPr id="1048713" name="Text 9"/>
          <p:cNvSpPr/>
          <p:nvPr/>
        </p:nvSpPr>
        <p:spPr>
          <a:xfrm>
            <a:off x="3246120" y="1371600"/>
            <a:ext cx="2468880" cy="12344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Yosun ağacın KUZEY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tarafında daha çok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bulunur. Güneş az gelir.</a:t>
            </a:r>
            <a:endParaRPr dirty="0" sz="1200" lang="en-US"/>
          </a:p>
        </p:txBody>
      </p:sp>
      <p:sp>
        <p:nvSpPr>
          <p:cNvPr id="1048714" name="Shape 10"/>
          <p:cNvSpPr/>
          <p:nvPr/>
        </p:nvSpPr>
        <p:spPr>
          <a:xfrm>
            <a:off x="5989320" y="868680"/>
            <a:ext cx="2651760" cy="1828800"/>
          </a:xfrm>
          <a:prstGeom prst="rect"/>
          <a:solidFill>
            <a:srgbClr val="EFEBE9"/>
          </a:solidFill>
          <a:ln w="25400">
            <a:solidFill>
              <a:srgbClr val="795548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15" name="Shape 11"/>
          <p:cNvSpPr/>
          <p:nvPr/>
        </p:nvSpPr>
        <p:spPr>
          <a:xfrm>
            <a:off x="5989320" y="868680"/>
            <a:ext cx="2651760" cy="457200"/>
          </a:xfrm>
          <a:prstGeom prst="rect"/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1048716" name="Text 12"/>
          <p:cNvSpPr/>
          <p:nvPr/>
        </p:nvSpPr>
        <p:spPr>
          <a:xfrm>
            <a:off x="5989320" y="868680"/>
            <a:ext cx="26517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🐜  Karınca Yuvası</a:t>
            </a:r>
            <a:endParaRPr dirty="0" sz="1300" lang="en-US"/>
          </a:p>
        </p:txBody>
      </p:sp>
      <p:sp>
        <p:nvSpPr>
          <p:cNvPr id="1048717" name="Text 13"/>
          <p:cNvSpPr/>
          <p:nvPr/>
        </p:nvSpPr>
        <p:spPr>
          <a:xfrm>
            <a:off x="6080760" y="1371600"/>
            <a:ext cx="2468880" cy="12344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Karıncalar yuvalarını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güneş alan GÜNEY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tarafa kurar.</a:t>
            </a:r>
            <a:endParaRPr dirty="0" sz="1200" lang="en-US"/>
          </a:p>
        </p:txBody>
      </p:sp>
      <p:sp>
        <p:nvSpPr>
          <p:cNvPr id="1048718" name="Shape 14"/>
          <p:cNvSpPr/>
          <p:nvPr/>
        </p:nvSpPr>
        <p:spPr>
          <a:xfrm>
            <a:off x="320040" y="2880360"/>
            <a:ext cx="2651760" cy="1828800"/>
          </a:xfrm>
          <a:prstGeom prst="rect"/>
          <a:solidFill>
            <a:srgbClr val="ECEFF1"/>
          </a:solidFill>
          <a:ln w="25400">
            <a:solidFill>
              <a:srgbClr val="546E7A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19" name="Shape 15"/>
          <p:cNvSpPr/>
          <p:nvPr/>
        </p:nvSpPr>
        <p:spPr>
          <a:xfrm>
            <a:off x="320040" y="2880360"/>
            <a:ext cx="2651760" cy="457200"/>
          </a:xfrm>
          <a:prstGeom prst="rect"/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48720" name="Text 16"/>
          <p:cNvSpPr/>
          <p:nvPr/>
        </p:nvSpPr>
        <p:spPr>
          <a:xfrm>
            <a:off x="320040" y="2880360"/>
            <a:ext cx="26517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🌬️  Rüzgar &amp; Kar</a:t>
            </a:r>
            <a:endParaRPr dirty="0" sz="1300" lang="en-US"/>
          </a:p>
        </p:txBody>
      </p:sp>
      <p:sp>
        <p:nvSpPr>
          <p:cNvPr id="1048721" name="Text 17"/>
          <p:cNvSpPr/>
          <p:nvPr/>
        </p:nvSpPr>
        <p:spPr>
          <a:xfrm>
            <a:off x="411480" y="3383280"/>
            <a:ext cx="2468880" cy="12344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Türkiye'de soğuk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rüzgar ve kar çoğunlukla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KUZEY'den gelir.</a:t>
            </a:r>
            <a:endParaRPr dirty="0" sz="1200" lang="en-US"/>
          </a:p>
        </p:txBody>
      </p:sp>
      <p:sp>
        <p:nvSpPr>
          <p:cNvPr id="1048722" name="Shape 18"/>
          <p:cNvSpPr/>
          <p:nvPr/>
        </p:nvSpPr>
        <p:spPr>
          <a:xfrm>
            <a:off x="3154680" y="2880360"/>
            <a:ext cx="2651760" cy="1828800"/>
          </a:xfrm>
          <a:prstGeom prst="rect"/>
          <a:solidFill>
            <a:srgbClr val="EFEBE9"/>
          </a:solidFill>
          <a:ln w="25400">
            <a:solidFill>
              <a:srgbClr val="4E342E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23" name="Shape 19"/>
          <p:cNvSpPr/>
          <p:nvPr/>
        </p:nvSpPr>
        <p:spPr>
          <a:xfrm>
            <a:off x="3154680" y="2880360"/>
            <a:ext cx="2651760" cy="457200"/>
          </a:xfrm>
          <a:prstGeom prst="rect"/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1048724" name="Text 20"/>
          <p:cNvSpPr/>
          <p:nvPr/>
        </p:nvSpPr>
        <p:spPr>
          <a:xfrm>
            <a:off x="3154680" y="2880360"/>
            <a:ext cx="26517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🏔️  Doğa İşaretleri</a:t>
            </a:r>
            <a:endParaRPr dirty="0" sz="1300" lang="en-US"/>
          </a:p>
        </p:txBody>
      </p:sp>
      <p:sp>
        <p:nvSpPr>
          <p:cNvPr id="1048725" name="Text 21"/>
          <p:cNvSpPr/>
          <p:nvPr/>
        </p:nvSpPr>
        <p:spPr>
          <a:xfrm>
            <a:off x="3246120" y="3383280"/>
            <a:ext cx="2468880" cy="12344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Tanıdık dağ, nehir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veya büyük ağaçlar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yön bulmamıza yardımcı.</a:t>
            </a:r>
            <a:endParaRPr dirty="0" sz="1200" lang="en-US"/>
          </a:p>
        </p:txBody>
      </p:sp>
      <p:sp>
        <p:nvSpPr>
          <p:cNvPr id="1048726" name="Shape 22"/>
          <p:cNvSpPr/>
          <p:nvPr/>
        </p:nvSpPr>
        <p:spPr>
          <a:xfrm>
            <a:off x="5989320" y="2880360"/>
            <a:ext cx="2651760" cy="1828800"/>
          </a:xfrm>
          <a:prstGeom prst="rect"/>
          <a:solidFill>
            <a:srgbClr val="F1F8E9"/>
          </a:solidFill>
          <a:ln w="25400">
            <a:solidFill>
              <a:srgbClr val="558B2F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27" name="Shape 23"/>
          <p:cNvSpPr/>
          <p:nvPr/>
        </p:nvSpPr>
        <p:spPr>
          <a:xfrm>
            <a:off x="5989320" y="2880360"/>
            <a:ext cx="2651760" cy="457200"/>
          </a:xfrm>
          <a:prstGeom prst="rect"/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048728" name="Text 24"/>
          <p:cNvSpPr/>
          <p:nvPr/>
        </p:nvSpPr>
        <p:spPr>
          <a:xfrm>
            <a:off x="5989320" y="2880360"/>
            <a:ext cx="26517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🌲  Ağaç Halkası</a:t>
            </a:r>
            <a:endParaRPr dirty="0" sz="1300" lang="en-US"/>
          </a:p>
        </p:txBody>
      </p:sp>
      <p:sp>
        <p:nvSpPr>
          <p:cNvPr id="1048729" name="Text 25"/>
          <p:cNvSpPr/>
          <p:nvPr/>
        </p:nvSpPr>
        <p:spPr>
          <a:xfrm>
            <a:off x="6080760" y="3383280"/>
            <a:ext cx="2468880" cy="12344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Kesilmiş ağaçta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halkalar GÜNEY'e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doğru daha kalındır.</a:t>
            </a:r>
            <a:endParaRPr dirty="0" sz="12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F6"/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Shape 0"/>
          <p:cNvSpPr/>
          <p:nvPr/>
        </p:nvSpPr>
        <p:spPr>
          <a:xfrm>
            <a:off x="0" y="0"/>
            <a:ext cx="9144000" cy="731520"/>
          </a:xfrm>
          <a:prstGeom prst="rect"/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048734" name="Text 1"/>
          <p:cNvSpPr/>
          <p:nvPr/>
        </p:nvSpPr>
        <p:spPr>
          <a:xfrm>
            <a:off x="274320" y="0"/>
            <a:ext cx="859536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🛠️  YÖN BULMA ARAÇLARI</a:t>
            </a:r>
            <a:endParaRPr dirty="0" sz="2600" lang="en-US"/>
          </a:p>
        </p:txBody>
      </p:sp>
      <p:sp>
        <p:nvSpPr>
          <p:cNvPr id="1048735" name="Shape 2"/>
          <p:cNvSpPr/>
          <p:nvPr/>
        </p:nvSpPr>
        <p:spPr>
          <a:xfrm>
            <a:off x="320040" y="868680"/>
            <a:ext cx="4114800" cy="1874520"/>
          </a:xfrm>
          <a:prstGeom prst="rect"/>
          <a:solidFill>
            <a:srgbClr val="E3F2FD"/>
          </a:solidFill>
          <a:ln w="38100">
            <a:solidFill>
              <a:srgbClr val="1565C0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36" name="Text 3"/>
          <p:cNvSpPr/>
          <p:nvPr/>
        </p:nvSpPr>
        <p:spPr>
          <a:xfrm>
            <a:off x="320040" y="868680"/>
            <a:ext cx="1188720" cy="1874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4800" lang="en-US">
                <a:solidFill>
                  <a:srgbClr val="000000"/>
                </a:solidFill>
              </a:rPr>
              <a:t>🧭</a:t>
            </a:r>
            <a:endParaRPr dirty="0" sz="4800" lang="en-US"/>
          </a:p>
        </p:txBody>
      </p:sp>
      <p:sp>
        <p:nvSpPr>
          <p:cNvPr id="1048737" name="Shape 4"/>
          <p:cNvSpPr/>
          <p:nvPr/>
        </p:nvSpPr>
        <p:spPr>
          <a:xfrm>
            <a:off x="1508760" y="868680"/>
            <a:ext cx="54864" cy="1874520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738" name="Text 5"/>
          <p:cNvSpPr/>
          <p:nvPr/>
        </p:nvSpPr>
        <p:spPr>
          <a:xfrm>
            <a:off x="1645920" y="978408"/>
            <a:ext cx="269748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1565C0"/>
                </a:solidFill>
              </a:rPr>
              <a:t>Pusula</a:t>
            </a:r>
            <a:endParaRPr dirty="0" sz="1500" lang="en-US"/>
          </a:p>
        </p:txBody>
      </p:sp>
      <p:sp>
        <p:nvSpPr>
          <p:cNvPr id="1048739" name="Text 6"/>
          <p:cNvSpPr/>
          <p:nvPr/>
        </p:nvSpPr>
        <p:spPr>
          <a:xfrm>
            <a:off x="1645920" y="1371600"/>
            <a:ext cx="2697480" cy="12801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En eski ve güvenilir araç.</a:t>
            </a:r>
            <a:endParaRPr dirty="0" sz="1200" lang="en-US"/>
          </a:p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İğnesi her zaman Kuzey'i</a:t>
            </a:r>
            <a:endParaRPr dirty="0" sz="1200" lang="en-US"/>
          </a:p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gösterir. Mıknatıs ile çalışır.</a:t>
            </a:r>
            <a:endParaRPr dirty="0" sz="1200" lang="en-US"/>
          </a:p>
        </p:txBody>
      </p:sp>
      <p:sp>
        <p:nvSpPr>
          <p:cNvPr id="1048740" name="Shape 7"/>
          <p:cNvSpPr/>
          <p:nvPr/>
        </p:nvSpPr>
        <p:spPr>
          <a:xfrm>
            <a:off x="4709160" y="868680"/>
            <a:ext cx="4114800" cy="1874520"/>
          </a:xfrm>
          <a:prstGeom prst="rect"/>
          <a:solidFill>
            <a:srgbClr val="E8F5E9"/>
          </a:solidFill>
          <a:ln w="38100">
            <a:solidFill>
              <a:srgbClr val="2E7D32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41" name="Text 8"/>
          <p:cNvSpPr/>
          <p:nvPr/>
        </p:nvSpPr>
        <p:spPr>
          <a:xfrm>
            <a:off x="4709160" y="868680"/>
            <a:ext cx="1188720" cy="1874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4800" lang="en-US">
                <a:solidFill>
                  <a:srgbClr val="000000"/>
                </a:solidFill>
              </a:rPr>
              <a:t>🗺️</a:t>
            </a:r>
            <a:endParaRPr dirty="0" sz="4800" lang="en-US"/>
          </a:p>
        </p:txBody>
      </p:sp>
      <p:sp>
        <p:nvSpPr>
          <p:cNvPr id="1048742" name="Shape 9"/>
          <p:cNvSpPr/>
          <p:nvPr/>
        </p:nvSpPr>
        <p:spPr>
          <a:xfrm>
            <a:off x="5897880" y="868680"/>
            <a:ext cx="54864" cy="1874520"/>
          </a:xfrm>
          <a:prstGeom prst="rect"/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48743" name="Text 10"/>
          <p:cNvSpPr/>
          <p:nvPr/>
        </p:nvSpPr>
        <p:spPr>
          <a:xfrm>
            <a:off x="6035040" y="978408"/>
            <a:ext cx="269748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2E7D32"/>
                </a:solidFill>
              </a:rPr>
              <a:t>Harita</a:t>
            </a:r>
            <a:endParaRPr dirty="0" sz="1500" lang="en-US"/>
          </a:p>
        </p:txBody>
      </p:sp>
      <p:sp>
        <p:nvSpPr>
          <p:cNvPr id="1048744" name="Text 11"/>
          <p:cNvSpPr/>
          <p:nvPr/>
        </p:nvSpPr>
        <p:spPr>
          <a:xfrm>
            <a:off x="6035040" y="1371600"/>
            <a:ext cx="2697480" cy="12801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Bir bölgenin kuşbakışı çizimi.</a:t>
            </a:r>
            <a:endParaRPr dirty="0" sz="1200" lang="en-US"/>
          </a:p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Haritada YUKARI = KUZEY.</a:t>
            </a:r>
            <a:endParaRPr dirty="0" sz="1200" lang="en-US"/>
          </a:p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Pusula ile birlikte kullanılır.</a:t>
            </a:r>
            <a:endParaRPr dirty="0" sz="1200" lang="en-US"/>
          </a:p>
        </p:txBody>
      </p:sp>
      <p:sp>
        <p:nvSpPr>
          <p:cNvPr id="1048745" name="Shape 12"/>
          <p:cNvSpPr/>
          <p:nvPr/>
        </p:nvSpPr>
        <p:spPr>
          <a:xfrm>
            <a:off x="320040" y="2926080"/>
            <a:ext cx="4114800" cy="1874520"/>
          </a:xfrm>
          <a:prstGeom prst="rect"/>
          <a:solidFill>
            <a:srgbClr val="FFF3E0"/>
          </a:solidFill>
          <a:ln w="38100">
            <a:solidFill>
              <a:srgbClr val="E65100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46" name="Text 13"/>
          <p:cNvSpPr/>
          <p:nvPr/>
        </p:nvSpPr>
        <p:spPr>
          <a:xfrm>
            <a:off x="320040" y="2926080"/>
            <a:ext cx="1188720" cy="1874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4800" lang="en-US">
                <a:solidFill>
                  <a:srgbClr val="000000"/>
                </a:solidFill>
              </a:rPr>
              <a:t>📡</a:t>
            </a:r>
            <a:endParaRPr dirty="0" sz="4800" lang="en-US"/>
          </a:p>
        </p:txBody>
      </p:sp>
      <p:sp>
        <p:nvSpPr>
          <p:cNvPr id="1048747" name="Shape 14"/>
          <p:cNvSpPr/>
          <p:nvPr/>
        </p:nvSpPr>
        <p:spPr>
          <a:xfrm>
            <a:off x="1508760" y="2926080"/>
            <a:ext cx="54864" cy="1874520"/>
          </a:xfrm>
          <a:prstGeom prst="rect"/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48748" name="Text 15"/>
          <p:cNvSpPr/>
          <p:nvPr/>
        </p:nvSpPr>
        <p:spPr>
          <a:xfrm>
            <a:off x="1645920" y="3035808"/>
            <a:ext cx="269748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E65100"/>
                </a:solidFill>
              </a:rPr>
              <a:t>GPS</a:t>
            </a:r>
            <a:endParaRPr dirty="0" sz="1500" lang="en-US"/>
          </a:p>
        </p:txBody>
      </p:sp>
      <p:sp>
        <p:nvSpPr>
          <p:cNvPr id="1048749" name="Text 16"/>
          <p:cNvSpPr/>
          <p:nvPr/>
        </p:nvSpPr>
        <p:spPr>
          <a:xfrm>
            <a:off x="1645920" y="3429000"/>
            <a:ext cx="2697480" cy="12801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Uydu sinyali ile çalışır.</a:t>
            </a:r>
            <a:endParaRPr dirty="0" sz="1200" lang="en-US"/>
          </a:p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Telefonlardaki harita uygulamaları</a:t>
            </a:r>
            <a:endParaRPr dirty="0" sz="1200" lang="en-US"/>
          </a:p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GPS kullanır. Anlık konum gösterir.</a:t>
            </a:r>
            <a:endParaRPr dirty="0" sz="1200" lang="en-US"/>
          </a:p>
        </p:txBody>
      </p:sp>
      <p:sp>
        <p:nvSpPr>
          <p:cNvPr id="1048750" name="Shape 17"/>
          <p:cNvSpPr/>
          <p:nvPr/>
        </p:nvSpPr>
        <p:spPr>
          <a:xfrm>
            <a:off x="4709160" y="2926080"/>
            <a:ext cx="4114800" cy="1874520"/>
          </a:xfrm>
          <a:prstGeom prst="rect"/>
          <a:solidFill>
            <a:srgbClr val="F3E5F5"/>
          </a:solidFill>
          <a:ln w="38100">
            <a:solidFill>
              <a:srgbClr val="6A1B9A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51" name="Text 18"/>
          <p:cNvSpPr/>
          <p:nvPr/>
        </p:nvSpPr>
        <p:spPr>
          <a:xfrm>
            <a:off x="4709160" y="2926080"/>
            <a:ext cx="1188720" cy="1874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4800" lang="en-US">
                <a:solidFill>
                  <a:srgbClr val="000000"/>
                </a:solidFill>
              </a:rPr>
              <a:t>📱</a:t>
            </a:r>
            <a:endParaRPr dirty="0" sz="4800" lang="en-US"/>
          </a:p>
        </p:txBody>
      </p:sp>
      <p:sp>
        <p:nvSpPr>
          <p:cNvPr id="1048752" name="Shape 19"/>
          <p:cNvSpPr/>
          <p:nvPr/>
        </p:nvSpPr>
        <p:spPr>
          <a:xfrm>
            <a:off x="5897880" y="2926080"/>
            <a:ext cx="54864" cy="1874520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753" name="Text 20"/>
          <p:cNvSpPr/>
          <p:nvPr/>
        </p:nvSpPr>
        <p:spPr>
          <a:xfrm>
            <a:off x="6035040" y="3035808"/>
            <a:ext cx="269748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6A1B9A"/>
                </a:solidFill>
              </a:rPr>
              <a:t>Akıllı Telefon</a:t>
            </a:r>
            <a:endParaRPr dirty="0" sz="1500" lang="en-US"/>
          </a:p>
        </p:txBody>
      </p:sp>
      <p:sp>
        <p:nvSpPr>
          <p:cNvPr id="1048754" name="Text 21"/>
          <p:cNvSpPr/>
          <p:nvPr/>
        </p:nvSpPr>
        <p:spPr>
          <a:xfrm>
            <a:off x="6035040" y="3429000"/>
            <a:ext cx="2697480" cy="12801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İçinde hem GPS hem de</a:t>
            </a:r>
            <a:endParaRPr dirty="0" sz="1200" lang="en-US"/>
          </a:p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pusula sensörü bulunur.</a:t>
            </a:r>
            <a:endParaRPr dirty="0" sz="1200" lang="en-US"/>
          </a:p>
          <a:p>
            <a:pPr indent="0" marL="0">
              <a:buNone/>
            </a:pPr>
            <a:r>
              <a:rPr dirty="0" sz="1200" lang="en-US">
                <a:solidFill>
                  <a:srgbClr val="1A2A3A"/>
                </a:solidFill>
              </a:rPr>
              <a:t>Günümüzde en çok kullanılır.</a:t>
            </a:r>
            <a:endParaRPr dirty="0" sz="1200" lang="en-US"/>
          </a:p>
        </p:txBody>
      </p:sp>
      <p:sp>
        <p:nvSpPr>
          <p:cNvPr id="1048755" name="Shape 22"/>
          <p:cNvSpPr/>
          <p:nvPr/>
        </p:nvSpPr>
        <p:spPr>
          <a:xfrm>
            <a:off x="320040" y="4709160"/>
            <a:ext cx="8503920" cy="384048"/>
          </a:xfrm>
          <a:prstGeom prst="rect"/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48756" name="Text 23"/>
          <p:cNvSpPr/>
          <p:nvPr/>
        </p:nvSpPr>
        <p:spPr>
          <a:xfrm>
            <a:off x="411480" y="4709160"/>
            <a:ext cx="83210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4E342E"/>
                </a:solidFill>
              </a:rPr>
              <a:t>⚠️  Teknoloji bozulabilir! Bu yüzden doğadan yön bulmayı da öğrenmek çok önemlidir.</a:t>
            </a:r>
            <a:endParaRPr dirty="0" sz="12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C4"/>
        </a:soli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Shape 0"/>
          <p:cNvSpPr/>
          <p:nvPr/>
        </p:nvSpPr>
        <p:spPr>
          <a:xfrm>
            <a:off x="0" y="0"/>
            <a:ext cx="9144000" cy="731520"/>
          </a:xfrm>
          <a:prstGeom prst="rect"/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48761" name="Text 1"/>
          <p:cNvSpPr/>
          <p:nvPr/>
        </p:nvSpPr>
        <p:spPr>
          <a:xfrm>
            <a:off x="274320" y="0"/>
            <a:ext cx="859536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SINIF ETKİNLİĞİ</a:t>
            </a:r>
            <a:endParaRPr dirty="0" sz="2800" lang="en-US"/>
          </a:p>
        </p:txBody>
      </p:sp>
      <p:sp>
        <p:nvSpPr>
          <p:cNvPr id="1048762" name="Shape 2"/>
          <p:cNvSpPr/>
          <p:nvPr/>
        </p:nvSpPr>
        <p:spPr>
          <a:xfrm>
            <a:off x="274320" y="868680"/>
            <a:ext cx="8595360" cy="713232"/>
          </a:xfrm>
          <a:prstGeom prst="rect"/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63" name="Shape 3"/>
          <p:cNvSpPr/>
          <p:nvPr/>
        </p:nvSpPr>
        <p:spPr>
          <a:xfrm>
            <a:off x="320040" y="896112"/>
            <a:ext cx="594360" cy="594360"/>
          </a:xfrm>
          <a:prstGeom prst="ellipse"/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48764" name="Text 4"/>
          <p:cNvSpPr/>
          <p:nvPr/>
        </p:nvSpPr>
        <p:spPr>
          <a:xfrm>
            <a:off x="320040" y="896112"/>
            <a:ext cx="59436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</a:rPr>
              <a:t>1</a:t>
            </a:r>
            <a:endParaRPr dirty="0" sz="1600" lang="en-US"/>
          </a:p>
        </p:txBody>
      </p:sp>
      <p:sp>
        <p:nvSpPr>
          <p:cNvPr id="1048765" name="Text 5"/>
          <p:cNvSpPr/>
          <p:nvPr/>
        </p:nvSpPr>
        <p:spPr>
          <a:xfrm>
            <a:off x="1005840" y="886968"/>
            <a:ext cx="59436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A2A3A"/>
                </a:solidFill>
              </a:rPr>
              <a:t>Güneş sabah hangi yönden doğar?</a:t>
            </a:r>
            <a:endParaRPr dirty="0" sz="1400" lang="en-US"/>
          </a:p>
        </p:txBody>
      </p:sp>
      <p:sp>
        <p:nvSpPr>
          <p:cNvPr id="1048766" name="Shape 6"/>
          <p:cNvSpPr/>
          <p:nvPr/>
        </p:nvSpPr>
        <p:spPr>
          <a:xfrm>
            <a:off x="7040880" y="914400"/>
            <a:ext cx="1645920" cy="594360"/>
          </a:xfrm>
          <a:prstGeom prst="rect"/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48767" name="Text 7"/>
          <p:cNvSpPr/>
          <p:nvPr/>
        </p:nvSpPr>
        <p:spPr>
          <a:xfrm>
            <a:off x="7040880" y="914400"/>
            <a:ext cx="164592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DOĞU ✅</a:t>
            </a:r>
            <a:endParaRPr dirty="0" sz="1300" lang="en-US"/>
          </a:p>
        </p:txBody>
      </p:sp>
      <p:sp>
        <p:nvSpPr>
          <p:cNvPr id="1048768" name="Shape 8"/>
          <p:cNvSpPr/>
          <p:nvPr/>
        </p:nvSpPr>
        <p:spPr>
          <a:xfrm>
            <a:off x="274320" y="1673352"/>
            <a:ext cx="8595360" cy="713232"/>
          </a:xfrm>
          <a:prstGeom prst="rect"/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69" name="Shape 9"/>
          <p:cNvSpPr/>
          <p:nvPr/>
        </p:nvSpPr>
        <p:spPr>
          <a:xfrm>
            <a:off x="320040" y="1700784"/>
            <a:ext cx="594360" cy="594360"/>
          </a:xfrm>
          <a:prstGeom prst="ellipse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770" name="Text 10"/>
          <p:cNvSpPr/>
          <p:nvPr/>
        </p:nvSpPr>
        <p:spPr>
          <a:xfrm>
            <a:off x="320040" y="1700784"/>
            <a:ext cx="59436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</a:rPr>
              <a:t>2</a:t>
            </a:r>
            <a:endParaRPr dirty="0" sz="1600" lang="en-US"/>
          </a:p>
        </p:txBody>
      </p:sp>
      <p:sp>
        <p:nvSpPr>
          <p:cNvPr id="1048771" name="Text 11"/>
          <p:cNvSpPr/>
          <p:nvPr/>
        </p:nvSpPr>
        <p:spPr>
          <a:xfrm>
            <a:off x="1005840" y="1691640"/>
            <a:ext cx="59436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A2A3A"/>
                </a:solidFill>
              </a:rPr>
              <a:t>Kutup Yıldızı hangi yönü gösterir?</a:t>
            </a:r>
            <a:endParaRPr dirty="0" sz="1400" lang="en-US"/>
          </a:p>
        </p:txBody>
      </p:sp>
      <p:sp>
        <p:nvSpPr>
          <p:cNvPr id="1048772" name="Shape 12"/>
          <p:cNvSpPr/>
          <p:nvPr/>
        </p:nvSpPr>
        <p:spPr>
          <a:xfrm>
            <a:off x="7040880" y="1719072"/>
            <a:ext cx="1645920" cy="594360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773" name="Text 13"/>
          <p:cNvSpPr/>
          <p:nvPr/>
        </p:nvSpPr>
        <p:spPr>
          <a:xfrm>
            <a:off x="7040880" y="1719072"/>
            <a:ext cx="164592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KUZEY ✅</a:t>
            </a:r>
            <a:endParaRPr dirty="0" sz="1300" lang="en-US"/>
          </a:p>
        </p:txBody>
      </p:sp>
      <p:sp>
        <p:nvSpPr>
          <p:cNvPr id="1048774" name="Shape 14"/>
          <p:cNvSpPr/>
          <p:nvPr/>
        </p:nvSpPr>
        <p:spPr>
          <a:xfrm>
            <a:off x="274320" y="2478024"/>
            <a:ext cx="8595360" cy="713232"/>
          </a:xfrm>
          <a:prstGeom prst="rect"/>
          <a:solidFill>
            <a:srgbClr val="FFFFFF"/>
          </a:solidFill>
          <a:ln w="25400">
            <a:solidFill>
              <a:srgbClr val="795548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75" name="Shape 15"/>
          <p:cNvSpPr/>
          <p:nvPr/>
        </p:nvSpPr>
        <p:spPr>
          <a:xfrm>
            <a:off x="320040" y="2505456"/>
            <a:ext cx="594360" cy="594360"/>
          </a:xfrm>
          <a:prstGeom prst="ellipse"/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1048776" name="Text 16"/>
          <p:cNvSpPr/>
          <p:nvPr/>
        </p:nvSpPr>
        <p:spPr>
          <a:xfrm>
            <a:off x="320040" y="2505456"/>
            <a:ext cx="59436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</a:rPr>
              <a:t>3</a:t>
            </a:r>
            <a:endParaRPr dirty="0" sz="1600" lang="en-US"/>
          </a:p>
        </p:txBody>
      </p:sp>
      <p:sp>
        <p:nvSpPr>
          <p:cNvPr id="1048777" name="Text 17"/>
          <p:cNvSpPr/>
          <p:nvPr/>
        </p:nvSpPr>
        <p:spPr>
          <a:xfrm>
            <a:off x="1005840" y="2496312"/>
            <a:ext cx="59436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A2A3A"/>
                </a:solidFill>
              </a:rPr>
              <a:t>Karıncalar yuvalarını hangi yöne kurar?</a:t>
            </a:r>
            <a:endParaRPr dirty="0" sz="1400" lang="en-US"/>
          </a:p>
        </p:txBody>
      </p:sp>
      <p:sp>
        <p:nvSpPr>
          <p:cNvPr id="1048778" name="Shape 18"/>
          <p:cNvSpPr/>
          <p:nvPr/>
        </p:nvSpPr>
        <p:spPr>
          <a:xfrm>
            <a:off x="7040880" y="2523744"/>
            <a:ext cx="1645920" cy="594360"/>
          </a:xfrm>
          <a:prstGeom prst="rect"/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1048779" name="Text 19"/>
          <p:cNvSpPr/>
          <p:nvPr/>
        </p:nvSpPr>
        <p:spPr>
          <a:xfrm>
            <a:off x="7040880" y="2523744"/>
            <a:ext cx="164592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GÜNEY ✅</a:t>
            </a:r>
            <a:endParaRPr dirty="0" sz="1300" lang="en-US"/>
          </a:p>
        </p:txBody>
      </p:sp>
      <p:sp>
        <p:nvSpPr>
          <p:cNvPr id="1048780" name="Shape 20"/>
          <p:cNvSpPr/>
          <p:nvPr/>
        </p:nvSpPr>
        <p:spPr>
          <a:xfrm>
            <a:off x="274320" y="3282696"/>
            <a:ext cx="8595360" cy="713232"/>
          </a:xfrm>
          <a:prstGeom prst="rect"/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81" name="Shape 21"/>
          <p:cNvSpPr/>
          <p:nvPr/>
        </p:nvSpPr>
        <p:spPr>
          <a:xfrm>
            <a:off x="320040" y="3310128"/>
            <a:ext cx="594360" cy="594360"/>
          </a:xfrm>
          <a:prstGeom prst="ellipse"/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48782" name="Text 22"/>
          <p:cNvSpPr/>
          <p:nvPr/>
        </p:nvSpPr>
        <p:spPr>
          <a:xfrm>
            <a:off x="320040" y="3310128"/>
            <a:ext cx="59436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</a:rPr>
              <a:t>4</a:t>
            </a:r>
            <a:endParaRPr dirty="0" sz="1600" lang="en-US"/>
          </a:p>
        </p:txBody>
      </p:sp>
      <p:sp>
        <p:nvSpPr>
          <p:cNvPr id="1048783" name="Text 23"/>
          <p:cNvSpPr/>
          <p:nvPr/>
        </p:nvSpPr>
        <p:spPr>
          <a:xfrm>
            <a:off x="1005840" y="3300984"/>
            <a:ext cx="59436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A2A3A"/>
                </a:solidFill>
              </a:rPr>
              <a:t>Haritada yukarı hangi yöndür?</a:t>
            </a:r>
            <a:endParaRPr dirty="0" sz="1400" lang="en-US"/>
          </a:p>
        </p:txBody>
      </p:sp>
      <p:sp>
        <p:nvSpPr>
          <p:cNvPr id="1048784" name="Shape 24"/>
          <p:cNvSpPr/>
          <p:nvPr/>
        </p:nvSpPr>
        <p:spPr>
          <a:xfrm>
            <a:off x="7040880" y="3328416"/>
            <a:ext cx="1645920" cy="594360"/>
          </a:xfrm>
          <a:prstGeom prst="rect"/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48785" name="Text 25"/>
          <p:cNvSpPr/>
          <p:nvPr/>
        </p:nvSpPr>
        <p:spPr>
          <a:xfrm>
            <a:off x="7040880" y="3328416"/>
            <a:ext cx="164592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KUZEY ✅</a:t>
            </a:r>
            <a:endParaRPr dirty="0" sz="1300" lang="en-US"/>
          </a:p>
        </p:txBody>
      </p:sp>
      <p:sp>
        <p:nvSpPr>
          <p:cNvPr id="1048786" name="Shape 26"/>
          <p:cNvSpPr/>
          <p:nvPr/>
        </p:nvSpPr>
        <p:spPr>
          <a:xfrm>
            <a:off x="274320" y="4087368"/>
            <a:ext cx="8595360" cy="713232"/>
          </a:xfrm>
          <a:prstGeom prst="rect"/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87" name="Shape 27"/>
          <p:cNvSpPr/>
          <p:nvPr/>
        </p:nvSpPr>
        <p:spPr>
          <a:xfrm>
            <a:off x="320040" y="4114800"/>
            <a:ext cx="594360" cy="594360"/>
          </a:xfrm>
          <a:prstGeom prst="ellipse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788" name="Text 28"/>
          <p:cNvSpPr/>
          <p:nvPr/>
        </p:nvSpPr>
        <p:spPr>
          <a:xfrm>
            <a:off x="320040" y="4114800"/>
            <a:ext cx="59436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</a:rPr>
              <a:t>5</a:t>
            </a:r>
            <a:endParaRPr dirty="0" sz="1600" lang="en-US"/>
          </a:p>
        </p:txBody>
      </p:sp>
      <p:sp>
        <p:nvSpPr>
          <p:cNvPr id="1048789" name="Text 29"/>
          <p:cNvSpPr/>
          <p:nvPr/>
        </p:nvSpPr>
        <p:spPr>
          <a:xfrm>
            <a:off x="1005840" y="4105656"/>
            <a:ext cx="59436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1A2A3A"/>
                </a:solidFill>
              </a:rPr>
              <a:t>Öğle vakti gölgemiz hangi yöne düşer?</a:t>
            </a:r>
            <a:endParaRPr dirty="0" sz="1400" lang="en-US"/>
          </a:p>
        </p:txBody>
      </p:sp>
      <p:sp>
        <p:nvSpPr>
          <p:cNvPr id="1048790" name="Shape 30"/>
          <p:cNvSpPr/>
          <p:nvPr/>
        </p:nvSpPr>
        <p:spPr>
          <a:xfrm>
            <a:off x="7040880" y="4133088"/>
            <a:ext cx="1645920" cy="594360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791" name="Text 31"/>
          <p:cNvSpPr/>
          <p:nvPr/>
        </p:nvSpPr>
        <p:spPr>
          <a:xfrm>
            <a:off x="7040880" y="4133088"/>
            <a:ext cx="164592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KUZEY ✅</a:t>
            </a:r>
            <a:endParaRPr dirty="0" sz="1300" lang="en-US"/>
          </a:p>
        </p:txBody>
      </p:sp>
      <p:sp>
        <p:nvSpPr>
          <p:cNvPr id="1048792" name="Text 32"/>
          <p:cNvSpPr/>
          <p:nvPr/>
        </p:nvSpPr>
        <p:spPr>
          <a:xfrm>
            <a:off x="274320" y="4846320"/>
            <a:ext cx="859536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i="1" lang="en-US">
                <a:solidFill>
                  <a:srgbClr val="607D8B"/>
                </a:solidFill>
              </a:rPr>
              <a:t>Öğrencileri kaldırarak cevap verdirmeyi unutma! 🙋</a:t>
            </a:r>
            <a:endParaRPr dirty="0" sz="12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6B"/>
        </a:soli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Shape 0"/>
          <p:cNvSpPr/>
          <p:nvPr/>
        </p:nvSpPr>
        <p:spPr>
          <a:xfrm>
            <a:off x="-457200" y="3200400"/>
            <a:ext cx="2286000" cy="2286000"/>
          </a:xfrm>
          <a:prstGeom prst="ellipse"/>
          <a:solidFill>
            <a:srgbClr val="2196F3">
              <a:alpha val="25000"/>
            </a:srgbClr>
          </a:solidFill>
          <a:ln w="12700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048797" name="Shape 1"/>
          <p:cNvSpPr/>
          <p:nvPr/>
        </p:nvSpPr>
        <p:spPr>
          <a:xfrm>
            <a:off x="7772400" y="-457200"/>
            <a:ext cx="2011680" cy="2011680"/>
          </a:xfrm>
          <a:prstGeom prst="ellipse"/>
          <a:solidFill>
            <a:srgbClr val="FFB703">
              <a:alpha val="30000"/>
            </a:srgbClr>
          </a:solidFill>
          <a:ln w="12700">
            <a:solidFill>
              <a:srgbClr val="FFB703">
                <a:alpha val="30000"/>
              </a:srgbClr>
            </a:solidFill>
            <a:prstDash val="solid"/>
          </a:ln>
        </p:spPr>
      </p:sp>
      <p:sp>
        <p:nvSpPr>
          <p:cNvPr id="1048798" name="Text 2"/>
          <p:cNvSpPr/>
          <p:nvPr/>
        </p:nvSpPr>
        <p:spPr>
          <a:xfrm>
            <a:off x="274320" y="137160"/>
            <a:ext cx="8595360" cy="6858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🌟  BUGÜN NE ÖĞRENDİK?</a:t>
            </a:r>
            <a:endParaRPr dirty="0" sz="2600" lang="en-US"/>
          </a:p>
        </p:txBody>
      </p:sp>
      <p:sp>
        <p:nvSpPr>
          <p:cNvPr id="1048799" name="Shape 3"/>
          <p:cNvSpPr/>
          <p:nvPr/>
        </p:nvSpPr>
        <p:spPr>
          <a:xfrm>
            <a:off x="274320" y="960120"/>
            <a:ext cx="2788920" cy="1005840"/>
          </a:xfrm>
          <a:prstGeom prst="rect"/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00" name="Text 4"/>
          <p:cNvSpPr/>
          <p:nvPr/>
        </p:nvSpPr>
        <p:spPr>
          <a:xfrm>
            <a:off x="320040" y="960120"/>
            <a:ext cx="6858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lang="en-US">
                <a:solidFill>
                  <a:srgbClr val="000000"/>
                </a:solidFill>
              </a:rPr>
              <a:t>🧭</a:t>
            </a:r>
            <a:endParaRPr dirty="0" sz="2600" lang="en-US"/>
          </a:p>
        </p:txBody>
      </p:sp>
      <p:sp>
        <p:nvSpPr>
          <p:cNvPr id="1048801" name="Text 5"/>
          <p:cNvSpPr/>
          <p:nvPr/>
        </p:nvSpPr>
        <p:spPr>
          <a:xfrm>
            <a:off x="1005840" y="1005840"/>
            <a:ext cx="201168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4 Ana Yön: Kuzey, Güney, Doğu, Batı</a:t>
            </a:r>
            <a:endParaRPr dirty="0" sz="1200" lang="en-US"/>
          </a:p>
        </p:txBody>
      </p:sp>
      <p:sp>
        <p:nvSpPr>
          <p:cNvPr id="1048802" name="Shape 6"/>
          <p:cNvSpPr/>
          <p:nvPr/>
        </p:nvSpPr>
        <p:spPr>
          <a:xfrm>
            <a:off x="3218688" y="960120"/>
            <a:ext cx="2788920" cy="1005840"/>
          </a:xfrm>
          <a:prstGeom prst="rect"/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03" name="Text 7"/>
          <p:cNvSpPr/>
          <p:nvPr/>
        </p:nvSpPr>
        <p:spPr>
          <a:xfrm>
            <a:off x="3264408" y="960120"/>
            <a:ext cx="6858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lang="en-US">
                <a:solidFill>
                  <a:srgbClr val="000000"/>
                </a:solidFill>
              </a:rPr>
              <a:t>🌅</a:t>
            </a:r>
            <a:endParaRPr dirty="0" sz="2600" lang="en-US"/>
          </a:p>
        </p:txBody>
      </p:sp>
      <p:sp>
        <p:nvSpPr>
          <p:cNvPr id="1048804" name="Text 8"/>
          <p:cNvSpPr/>
          <p:nvPr/>
        </p:nvSpPr>
        <p:spPr>
          <a:xfrm>
            <a:off x="3950208" y="1005840"/>
            <a:ext cx="201168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Güneş DOĞU'dan doğar, BATI'ya batar</a:t>
            </a:r>
            <a:endParaRPr dirty="0" sz="1200" lang="en-US"/>
          </a:p>
        </p:txBody>
      </p:sp>
      <p:sp>
        <p:nvSpPr>
          <p:cNvPr id="1048805" name="Shape 9"/>
          <p:cNvSpPr/>
          <p:nvPr/>
        </p:nvSpPr>
        <p:spPr>
          <a:xfrm>
            <a:off x="6163056" y="960120"/>
            <a:ext cx="2788920" cy="1005840"/>
          </a:xfrm>
          <a:prstGeom prst="rect"/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06" name="Text 10"/>
          <p:cNvSpPr/>
          <p:nvPr/>
        </p:nvSpPr>
        <p:spPr>
          <a:xfrm>
            <a:off x="6208776" y="960120"/>
            <a:ext cx="6858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lang="en-US">
                <a:solidFill>
                  <a:srgbClr val="000000"/>
                </a:solidFill>
              </a:rPr>
              <a:t>🌞</a:t>
            </a:r>
            <a:endParaRPr dirty="0" sz="2600" lang="en-US"/>
          </a:p>
        </p:txBody>
      </p:sp>
      <p:sp>
        <p:nvSpPr>
          <p:cNvPr id="1048807" name="Text 11"/>
          <p:cNvSpPr/>
          <p:nvPr/>
        </p:nvSpPr>
        <p:spPr>
          <a:xfrm>
            <a:off x="6894576" y="1005840"/>
            <a:ext cx="201168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Öğle vakti gölgemiz KUZEY'e düşer</a:t>
            </a:r>
            <a:endParaRPr dirty="0" sz="1200" lang="en-US"/>
          </a:p>
        </p:txBody>
      </p:sp>
      <p:sp>
        <p:nvSpPr>
          <p:cNvPr id="1048808" name="Shape 12"/>
          <p:cNvSpPr/>
          <p:nvPr/>
        </p:nvSpPr>
        <p:spPr>
          <a:xfrm>
            <a:off x="274320" y="2103120"/>
            <a:ext cx="2788920" cy="1005840"/>
          </a:xfrm>
          <a:prstGeom prst="rect"/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09" name="Text 13"/>
          <p:cNvSpPr/>
          <p:nvPr/>
        </p:nvSpPr>
        <p:spPr>
          <a:xfrm>
            <a:off x="320040" y="2103120"/>
            <a:ext cx="6858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lang="en-US">
                <a:solidFill>
                  <a:srgbClr val="000000"/>
                </a:solidFill>
              </a:rPr>
              <a:t>⭐</a:t>
            </a:r>
            <a:endParaRPr dirty="0" sz="2600" lang="en-US"/>
          </a:p>
        </p:txBody>
      </p:sp>
      <p:sp>
        <p:nvSpPr>
          <p:cNvPr id="1048810" name="Text 14"/>
          <p:cNvSpPr/>
          <p:nvPr/>
        </p:nvSpPr>
        <p:spPr>
          <a:xfrm>
            <a:off x="1005840" y="2148840"/>
            <a:ext cx="201168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Kutup Yıldızı her zaman KUZEY'i gösterir</a:t>
            </a:r>
            <a:endParaRPr dirty="0" sz="1200" lang="en-US"/>
          </a:p>
        </p:txBody>
      </p:sp>
      <p:sp>
        <p:nvSpPr>
          <p:cNvPr id="1048811" name="Shape 15"/>
          <p:cNvSpPr/>
          <p:nvPr/>
        </p:nvSpPr>
        <p:spPr>
          <a:xfrm>
            <a:off x="3218688" y="2103120"/>
            <a:ext cx="2788920" cy="1005840"/>
          </a:xfrm>
          <a:prstGeom prst="rect"/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12" name="Text 16"/>
          <p:cNvSpPr/>
          <p:nvPr/>
        </p:nvSpPr>
        <p:spPr>
          <a:xfrm>
            <a:off x="3264408" y="2103120"/>
            <a:ext cx="6858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lang="en-US">
                <a:solidFill>
                  <a:srgbClr val="000000"/>
                </a:solidFill>
              </a:rPr>
              <a:t>🌲</a:t>
            </a:r>
            <a:endParaRPr dirty="0" sz="2600" lang="en-US"/>
          </a:p>
        </p:txBody>
      </p:sp>
      <p:sp>
        <p:nvSpPr>
          <p:cNvPr id="1048813" name="Text 17"/>
          <p:cNvSpPr/>
          <p:nvPr/>
        </p:nvSpPr>
        <p:spPr>
          <a:xfrm>
            <a:off x="3950208" y="2148840"/>
            <a:ext cx="201168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Yosun ağacın KUZEY tarafında bulunur</a:t>
            </a:r>
            <a:endParaRPr dirty="0" sz="1200" lang="en-US"/>
          </a:p>
        </p:txBody>
      </p:sp>
      <p:sp>
        <p:nvSpPr>
          <p:cNvPr id="1048814" name="Shape 18"/>
          <p:cNvSpPr/>
          <p:nvPr/>
        </p:nvSpPr>
        <p:spPr>
          <a:xfrm>
            <a:off x="6163056" y="2103120"/>
            <a:ext cx="2788920" cy="1005840"/>
          </a:xfrm>
          <a:prstGeom prst="rect"/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15" name="Text 19"/>
          <p:cNvSpPr/>
          <p:nvPr/>
        </p:nvSpPr>
        <p:spPr>
          <a:xfrm>
            <a:off x="6208776" y="2103120"/>
            <a:ext cx="6858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lang="en-US">
                <a:solidFill>
                  <a:srgbClr val="000000"/>
                </a:solidFill>
              </a:rPr>
              <a:t>🐜</a:t>
            </a:r>
            <a:endParaRPr dirty="0" sz="2600" lang="en-US"/>
          </a:p>
        </p:txBody>
      </p:sp>
      <p:sp>
        <p:nvSpPr>
          <p:cNvPr id="1048816" name="Text 20"/>
          <p:cNvSpPr/>
          <p:nvPr/>
        </p:nvSpPr>
        <p:spPr>
          <a:xfrm>
            <a:off x="6894576" y="2148840"/>
            <a:ext cx="201168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Karınca yuvası GÜNEY'e bakar</a:t>
            </a:r>
            <a:endParaRPr dirty="0" sz="1200" lang="en-US"/>
          </a:p>
        </p:txBody>
      </p:sp>
      <p:sp>
        <p:nvSpPr>
          <p:cNvPr id="1048817" name="Shape 21"/>
          <p:cNvSpPr/>
          <p:nvPr/>
        </p:nvSpPr>
        <p:spPr>
          <a:xfrm>
            <a:off x="274320" y="3246120"/>
            <a:ext cx="2788920" cy="1005840"/>
          </a:xfrm>
          <a:prstGeom prst="rect"/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18" name="Text 22"/>
          <p:cNvSpPr/>
          <p:nvPr/>
        </p:nvSpPr>
        <p:spPr>
          <a:xfrm>
            <a:off x="320040" y="3246120"/>
            <a:ext cx="6858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lang="en-US">
                <a:solidFill>
                  <a:srgbClr val="000000"/>
                </a:solidFill>
              </a:rPr>
              <a:t>🧭</a:t>
            </a:r>
            <a:endParaRPr dirty="0" sz="2600" lang="en-US"/>
          </a:p>
        </p:txBody>
      </p:sp>
      <p:sp>
        <p:nvSpPr>
          <p:cNvPr id="1048819" name="Text 23"/>
          <p:cNvSpPr/>
          <p:nvPr/>
        </p:nvSpPr>
        <p:spPr>
          <a:xfrm>
            <a:off x="1005840" y="3291840"/>
            <a:ext cx="201168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Pusula iğnesi KUZEY'i gösterir</a:t>
            </a:r>
            <a:endParaRPr dirty="0" sz="1200" lang="en-US"/>
          </a:p>
        </p:txBody>
      </p:sp>
      <p:sp>
        <p:nvSpPr>
          <p:cNvPr id="1048820" name="Shape 24"/>
          <p:cNvSpPr/>
          <p:nvPr/>
        </p:nvSpPr>
        <p:spPr>
          <a:xfrm>
            <a:off x="3218688" y="3246120"/>
            <a:ext cx="2788920" cy="1005840"/>
          </a:xfrm>
          <a:prstGeom prst="rect"/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21" name="Text 25"/>
          <p:cNvSpPr/>
          <p:nvPr/>
        </p:nvSpPr>
        <p:spPr>
          <a:xfrm>
            <a:off x="3264408" y="3246120"/>
            <a:ext cx="6858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lang="en-US">
                <a:solidFill>
                  <a:srgbClr val="000000"/>
                </a:solidFill>
              </a:rPr>
              <a:t>🗺️</a:t>
            </a:r>
            <a:endParaRPr dirty="0" sz="2600" lang="en-US"/>
          </a:p>
        </p:txBody>
      </p:sp>
      <p:sp>
        <p:nvSpPr>
          <p:cNvPr id="1048822" name="Text 26"/>
          <p:cNvSpPr/>
          <p:nvPr/>
        </p:nvSpPr>
        <p:spPr>
          <a:xfrm>
            <a:off x="3950208" y="3291840"/>
            <a:ext cx="201168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Haritada YUKARI = KUZEY</a:t>
            </a:r>
            <a:endParaRPr dirty="0" sz="1200" lang="en-US"/>
          </a:p>
        </p:txBody>
      </p:sp>
      <p:sp>
        <p:nvSpPr>
          <p:cNvPr id="1048823" name="Shape 27"/>
          <p:cNvSpPr/>
          <p:nvPr/>
        </p:nvSpPr>
        <p:spPr>
          <a:xfrm>
            <a:off x="6163056" y="3246120"/>
            <a:ext cx="2788920" cy="1005840"/>
          </a:xfrm>
          <a:prstGeom prst="rect"/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24" name="Text 28"/>
          <p:cNvSpPr/>
          <p:nvPr/>
        </p:nvSpPr>
        <p:spPr>
          <a:xfrm>
            <a:off x="6208776" y="3246120"/>
            <a:ext cx="68580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lang="en-US">
                <a:solidFill>
                  <a:srgbClr val="000000"/>
                </a:solidFill>
              </a:rPr>
              <a:t>📡</a:t>
            </a:r>
            <a:endParaRPr dirty="0" sz="2600" lang="en-US"/>
          </a:p>
        </p:txBody>
      </p:sp>
      <p:sp>
        <p:nvSpPr>
          <p:cNvPr id="1048825" name="Text 29"/>
          <p:cNvSpPr/>
          <p:nvPr/>
        </p:nvSpPr>
        <p:spPr>
          <a:xfrm>
            <a:off x="6894576" y="3291840"/>
            <a:ext cx="201168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GPS uydu sinyali ile çalışır</a:t>
            </a:r>
            <a:endParaRPr dirty="0" sz="1200" lang="en-US"/>
          </a:p>
        </p:txBody>
      </p:sp>
      <p:sp>
        <p:nvSpPr>
          <p:cNvPr id="1048826" name="Shape 30"/>
          <p:cNvSpPr/>
          <p:nvPr/>
        </p:nvSpPr>
        <p:spPr>
          <a:xfrm>
            <a:off x="1371600" y="4572000"/>
            <a:ext cx="6400800" cy="502920"/>
          </a:xfrm>
          <a:prstGeom prst="rect"/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48827" name="Text 31"/>
          <p:cNvSpPr/>
          <p:nvPr/>
        </p:nvSpPr>
        <p:spPr>
          <a:xfrm>
            <a:off x="1371600" y="4572000"/>
            <a:ext cx="640080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A3A6B"/>
                </a:solidFill>
              </a:rPr>
              <a:t>👏  Harika bir ders için teşekkürler!  👏</a:t>
            </a:r>
            <a:endParaRPr dirty="0" sz="16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Yönlerimiz - 2. Sınıf Hayat Bilgisi</dc:title>
  <dc:creator>PptxGenJS</dc:creator>
  <cp:lastModifiedBy>PptxGenJS</cp:lastModifiedBy>
  <dcterms:created xsi:type="dcterms:W3CDTF">2026-03-31T14:08:14Z</dcterms:created>
  <dcterms:modified xsi:type="dcterms:W3CDTF">2026-03-31T20:26:37Z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ec880ca783e44413b1d52962aa9638e5</vt:lpwstr>
  </property>
</Properties>
</file>